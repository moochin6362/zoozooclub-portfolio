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10287000" cx="18288000"/>
  <p:notesSz cx="6858000" cy="9144000"/>
  <p:embeddedFontLst>
    <p:embeddedFont>
      <p:font typeface="Poppins"/>
      <p:regular r:id="rId24"/>
      <p:bold r:id="rId25"/>
      <p:italic r:id="rId26"/>
      <p:boldItalic r:id="rId27"/>
    </p:embeddedFont>
    <p:embeddedFont>
      <p:font typeface="Roboto Mono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Poppins-regular.fntdata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oppins-italic.fntdata"/><Relationship Id="rId25" Type="http://schemas.openxmlformats.org/officeDocument/2006/relationships/font" Target="fonts/Poppins-bold.fntdata"/><Relationship Id="rId28" Type="http://schemas.openxmlformats.org/officeDocument/2006/relationships/font" Target="fonts/RobotoMono-regular.fntdata"/><Relationship Id="rId27" Type="http://schemas.openxmlformats.org/officeDocument/2006/relationships/font" Target="fonts/Poppi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Mon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Mono-boldItalic.fntdata"/><Relationship Id="rId30" Type="http://schemas.openxmlformats.org/officeDocument/2006/relationships/font" Target="fonts/RobotoMono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ko-KR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6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760a0e7c48_1_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760a0e7c48_1_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g3760a0e7c48_1_3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g376126287fb_0_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2" name="Google Shape;552;g376126287fb_0_3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g376126287fb_0_3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g376126287fb_0_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5" name="Google Shape;565;g376126287fb_0_3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g376126287fb_0_3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g37cea4226fc_1_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8" name="Google Shape;578;g37cea4226fc_1_4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g37cea4226fc_1_4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37cea4226fc_1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1" name="Google Shape;591;g37cea4226fc_1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g37cea4226fc_1_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10.png"/><Relationship Id="rId6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1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8.png"/><Relationship Id="rId6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19.png"/><Relationship Id="rId6" Type="http://schemas.openxmlformats.org/officeDocument/2006/relationships/image" Target="../media/image6.png"/><Relationship Id="rId7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1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A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oogle Shape;88;p13"/>
          <p:cNvGrpSpPr/>
          <p:nvPr/>
        </p:nvGrpSpPr>
        <p:grpSpPr>
          <a:xfrm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id="89" name="Google Shape;89;p13"/>
            <p:cNvSpPr/>
            <p:nvPr/>
          </p:nvSpPr>
          <p:spPr>
            <a:xfrm>
              <a:off x="0" y="0"/>
              <a:ext cx="6982743" cy="6982743"/>
            </a:xfrm>
            <a:custGeom>
              <a:rect b="b" l="l" r="r" t="t"/>
              <a:pathLst>
                <a:path extrusionOk="0"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63000"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90;p13"/>
            <p:cNvSpPr/>
            <p:nvPr/>
          </p:nvSpPr>
          <p:spPr>
            <a:xfrm>
              <a:off x="6955551" y="0"/>
              <a:ext cx="6982743" cy="6982743"/>
            </a:xfrm>
            <a:custGeom>
              <a:rect b="b" l="l" r="r" t="t"/>
              <a:pathLst>
                <a:path extrusionOk="0"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63000"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91;p13"/>
            <p:cNvSpPr/>
            <p:nvPr/>
          </p:nvSpPr>
          <p:spPr>
            <a:xfrm>
              <a:off x="13883911" y="0"/>
              <a:ext cx="6982743" cy="6982743"/>
            </a:xfrm>
            <a:custGeom>
              <a:rect b="b" l="l" r="r" t="t"/>
              <a:pathLst>
                <a:path extrusionOk="0"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63000"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" name="Google Shape;92;p13"/>
            <p:cNvSpPr/>
            <p:nvPr/>
          </p:nvSpPr>
          <p:spPr>
            <a:xfrm>
              <a:off x="20812271" y="0"/>
              <a:ext cx="6982743" cy="6982743"/>
            </a:xfrm>
            <a:custGeom>
              <a:rect b="b" l="l" r="r" t="t"/>
              <a:pathLst>
                <a:path extrusionOk="0"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63000"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13"/>
            <p:cNvSpPr/>
            <p:nvPr/>
          </p:nvSpPr>
          <p:spPr>
            <a:xfrm>
              <a:off x="0" y="6958390"/>
              <a:ext cx="6982743" cy="6982743"/>
            </a:xfrm>
            <a:custGeom>
              <a:rect b="b" l="l" r="r" t="t"/>
              <a:pathLst>
                <a:path extrusionOk="0"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63000"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94;p13"/>
            <p:cNvSpPr/>
            <p:nvPr/>
          </p:nvSpPr>
          <p:spPr>
            <a:xfrm>
              <a:off x="6955551" y="6958390"/>
              <a:ext cx="6982743" cy="6982743"/>
            </a:xfrm>
            <a:custGeom>
              <a:rect b="b" l="l" r="r" t="t"/>
              <a:pathLst>
                <a:path extrusionOk="0"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63000"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13"/>
            <p:cNvSpPr/>
            <p:nvPr/>
          </p:nvSpPr>
          <p:spPr>
            <a:xfrm>
              <a:off x="13883911" y="6958390"/>
              <a:ext cx="6982743" cy="6982743"/>
            </a:xfrm>
            <a:custGeom>
              <a:rect b="b" l="l" r="r" t="t"/>
              <a:pathLst>
                <a:path extrusionOk="0"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63000"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13"/>
            <p:cNvSpPr/>
            <p:nvPr/>
          </p:nvSpPr>
          <p:spPr>
            <a:xfrm>
              <a:off x="20812271" y="6958390"/>
              <a:ext cx="6982743" cy="6982743"/>
            </a:xfrm>
            <a:custGeom>
              <a:rect b="b" l="l" r="r" t="t"/>
              <a:pathLst>
                <a:path extrusionOk="0"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63000"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7" name="Google Shape;97;p13"/>
          <p:cNvGrpSpPr/>
          <p:nvPr/>
        </p:nvGrpSpPr>
        <p:grpSpPr>
          <a:xfrm>
            <a:off x="980630" y="657693"/>
            <a:ext cx="16326741" cy="8862722"/>
            <a:chOff x="0" y="-241102"/>
            <a:chExt cx="21768988" cy="11816963"/>
          </a:xfrm>
        </p:grpSpPr>
        <p:grpSp>
          <p:nvGrpSpPr>
            <p:cNvPr id="98" name="Google Shape;98;p13"/>
            <p:cNvGrpSpPr/>
            <p:nvPr/>
          </p:nvGrpSpPr>
          <p:grpSpPr>
            <a:xfrm>
              <a:off x="128188" y="-93892"/>
              <a:ext cx="21640800" cy="11669753"/>
              <a:chOff x="0" y="-47625"/>
              <a:chExt cx="4274726" cy="2305136"/>
            </a:xfrm>
          </p:grpSpPr>
          <p:sp>
            <p:nvSpPr>
              <p:cNvPr id="99" name="Google Shape;99;p13"/>
              <p:cNvSpPr/>
              <p:nvPr/>
            </p:nvSpPr>
            <p:spPr>
              <a:xfrm>
                <a:off x="0" y="0"/>
                <a:ext cx="4274726" cy="2257511"/>
              </a:xfrm>
              <a:custGeom>
                <a:rect b="b" l="l" r="r" t="t"/>
                <a:pathLst>
                  <a:path extrusionOk="0"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628566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" name="Google Shape;100;p13"/>
              <p:cNvSpPr txBox="1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71055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1" name="Google Shape;101;p13"/>
            <p:cNvGrpSpPr/>
            <p:nvPr/>
          </p:nvGrpSpPr>
          <p:grpSpPr>
            <a:xfrm>
              <a:off x="0" y="-241102"/>
              <a:ext cx="21640800" cy="11669753"/>
              <a:chOff x="0" y="-47625"/>
              <a:chExt cx="4274726" cy="2305136"/>
            </a:xfrm>
          </p:grpSpPr>
          <p:sp>
            <p:nvSpPr>
              <p:cNvPr id="102" name="Google Shape;102;p13"/>
              <p:cNvSpPr/>
              <p:nvPr/>
            </p:nvSpPr>
            <p:spPr>
              <a:xfrm>
                <a:off x="0" y="0"/>
                <a:ext cx="4274726" cy="2257511"/>
              </a:xfrm>
              <a:custGeom>
                <a:rect b="b" l="l" r="r" t="t"/>
                <a:pathLst>
                  <a:path extrusionOk="0"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cap="sq" cmpd="sng" w="19050">
                <a:solidFill>
                  <a:srgbClr val="485849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" name="Google Shape;103;p13"/>
              <p:cNvSpPr txBox="1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71055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04" name="Google Shape;104;p13"/>
          <p:cNvSpPr/>
          <p:nvPr/>
        </p:nvSpPr>
        <p:spPr>
          <a:xfrm>
            <a:off x="15720211" y="231437"/>
            <a:ext cx="1136863" cy="1168738"/>
          </a:xfrm>
          <a:custGeom>
            <a:rect b="b" l="l" r="r" t="t"/>
            <a:pathLst>
              <a:path extrusionOk="0"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3"/>
          <p:cNvSpPr/>
          <p:nvPr/>
        </p:nvSpPr>
        <p:spPr>
          <a:xfrm>
            <a:off x="8604504" y="2808143"/>
            <a:ext cx="1078992" cy="1078992"/>
          </a:xfrm>
          <a:custGeom>
            <a:rect b="b" l="l" r="r" t="t"/>
            <a:pathLst>
              <a:path extrusionOk="0" h="1078992" w="1078992">
                <a:moveTo>
                  <a:pt x="0" y="0"/>
                </a:moveTo>
                <a:lnTo>
                  <a:pt x="1078992" y="0"/>
                </a:lnTo>
                <a:lnTo>
                  <a:pt x="1078992" y="1078992"/>
                </a:lnTo>
                <a:lnTo>
                  <a:pt x="0" y="10789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3"/>
          <p:cNvSpPr txBox="1"/>
          <p:nvPr/>
        </p:nvSpPr>
        <p:spPr>
          <a:xfrm>
            <a:off x="1028700" y="1031875"/>
            <a:ext cx="2975373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>
                <a:solidFill>
                  <a:srgbClr val="485849"/>
                </a:solidFill>
                <a:latin typeface="Poppins"/>
                <a:ea typeface="Poppins"/>
                <a:cs typeface="Poppins"/>
                <a:sym typeface="Poppins"/>
              </a:rPr>
              <a:t>TEAM PROJECT</a:t>
            </a:r>
            <a:endParaRPr/>
          </a:p>
        </p:txBody>
      </p:sp>
      <p:sp>
        <p:nvSpPr>
          <p:cNvPr id="107" name="Google Shape;107;p13"/>
          <p:cNvSpPr txBox="1"/>
          <p:nvPr/>
        </p:nvSpPr>
        <p:spPr>
          <a:xfrm>
            <a:off x="5006053" y="5531960"/>
            <a:ext cx="8275800" cy="1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7796">
                <a:solidFill>
                  <a:srgbClr val="485849"/>
                </a:solidFill>
              </a:rPr>
              <a:t>						이루강</a:t>
            </a:r>
            <a:endParaRPr sz="7796">
              <a:solidFill>
                <a:srgbClr val="4858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3"/>
          <p:cNvSpPr txBox="1"/>
          <p:nvPr/>
        </p:nvSpPr>
        <p:spPr>
          <a:xfrm>
            <a:off x="4647037" y="3668060"/>
            <a:ext cx="8993926" cy="2006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743">
                <a:solidFill>
                  <a:srgbClr val="8CB791"/>
                </a:solidFill>
                <a:latin typeface="Arial"/>
                <a:ea typeface="Arial"/>
                <a:cs typeface="Arial"/>
                <a:sym typeface="Arial"/>
              </a:rPr>
              <a:t>팀 프로젝트</a:t>
            </a:r>
            <a:endParaRPr/>
          </a:p>
        </p:txBody>
      </p:sp>
      <p:sp>
        <p:nvSpPr>
          <p:cNvPr id="109" name="Google Shape;109;p13"/>
          <p:cNvSpPr txBox="1"/>
          <p:nvPr/>
        </p:nvSpPr>
        <p:spPr>
          <a:xfrm>
            <a:off x="14039145" y="8850757"/>
            <a:ext cx="2842313" cy="358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>
                <a:solidFill>
                  <a:srgbClr val="485849"/>
                </a:solidFill>
                <a:latin typeface="Arial"/>
                <a:ea typeface="Arial"/>
                <a:cs typeface="Arial"/>
                <a:sym typeface="Arial"/>
              </a:rPr>
              <a:t>미녀와 야수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A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" name="Google Shape;114;p14"/>
          <p:cNvGrpSpPr/>
          <p:nvPr/>
        </p:nvGrpSpPr>
        <p:grpSpPr>
          <a:xfrm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id="115" name="Google Shape;115;p14"/>
            <p:cNvSpPr/>
            <p:nvPr/>
          </p:nvSpPr>
          <p:spPr>
            <a:xfrm>
              <a:off x="0" y="0"/>
              <a:ext cx="6982743" cy="6982743"/>
            </a:xfrm>
            <a:custGeom>
              <a:rect b="b" l="l" r="r" t="t"/>
              <a:pathLst>
                <a:path extrusionOk="0"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63000"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14"/>
            <p:cNvSpPr/>
            <p:nvPr/>
          </p:nvSpPr>
          <p:spPr>
            <a:xfrm>
              <a:off x="6955551" y="0"/>
              <a:ext cx="6982743" cy="6982743"/>
            </a:xfrm>
            <a:custGeom>
              <a:rect b="b" l="l" r="r" t="t"/>
              <a:pathLst>
                <a:path extrusionOk="0"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63000"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" name="Google Shape;117;p14"/>
            <p:cNvSpPr/>
            <p:nvPr/>
          </p:nvSpPr>
          <p:spPr>
            <a:xfrm>
              <a:off x="13883911" y="0"/>
              <a:ext cx="6982743" cy="6982743"/>
            </a:xfrm>
            <a:custGeom>
              <a:rect b="b" l="l" r="r" t="t"/>
              <a:pathLst>
                <a:path extrusionOk="0"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63000"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" name="Google Shape;118;p14"/>
            <p:cNvSpPr/>
            <p:nvPr/>
          </p:nvSpPr>
          <p:spPr>
            <a:xfrm>
              <a:off x="20812271" y="0"/>
              <a:ext cx="6982743" cy="6982743"/>
            </a:xfrm>
            <a:custGeom>
              <a:rect b="b" l="l" r="r" t="t"/>
              <a:pathLst>
                <a:path extrusionOk="0"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63000"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" name="Google Shape;119;p14"/>
            <p:cNvSpPr/>
            <p:nvPr/>
          </p:nvSpPr>
          <p:spPr>
            <a:xfrm>
              <a:off x="0" y="6958390"/>
              <a:ext cx="6982743" cy="6982743"/>
            </a:xfrm>
            <a:custGeom>
              <a:rect b="b" l="l" r="r" t="t"/>
              <a:pathLst>
                <a:path extrusionOk="0"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63000"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" name="Google Shape;120;p14"/>
            <p:cNvSpPr/>
            <p:nvPr/>
          </p:nvSpPr>
          <p:spPr>
            <a:xfrm>
              <a:off x="6955551" y="6958390"/>
              <a:ext cx="6982743" cy="6982743"/>
            </a:xfrm>
            <a:custGeom>
              <a:rect b="b" l="l" r="r" t="t"/>
              <a:pathLst>
                <a:path extrusionOk="0"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63000"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" name="Google Shape;121;p14"/>
            <p:cNvSpPr/>
            <p:nvPr/>
          </p:nvSpPr>
          <p:spPr>
            <a:xfrm>
              <a:off x="13883911" y="6958390"/>
              <a:ext cx="6982743" cy="6982743"/>
            </a:xfrm>
            <a:custGeom>
              <a:rect b="b" l="l" r="r" t="t"/>
              <a:pathLst>
                <a:path extrusionOk="0"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63000"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" name="Google Shape;122;p14"/>
            <p:cNvSpPr/>
            <p:nvPr/>
          </p:nvSpPr>
          <p:spPr>
            <a:xfrm>
              <a:off x="20812271" y="6958390"/>
              <a:ext cx="6982743" cy="6982743"/>
            </a:xfrm>
            <a:custGeom>
              <a:rect b="b" l="l" r="r" t="t"/>
              <a:pathLst>
                <a:path extrusionOk="0"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63000"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3" name="Google Shape;123;p14"/>
          <p:cNvGrpSpPr/>
          <p:nvPr/>
        </p:nvGrpSpPr>
        <p:grpSpPr>
          <a:xfrm>
            <a:off x="980630" y="657693"/>
            <a:ext cx="16326741" cy="8862722"/>
            <a:chOff x="0" y="-241102"/>
            <a:chExt cx="21768988" cy="11816963"/>
          </a:xfrm>
        </p:grpSpPr>
        <p:grpSp>
          <p:nvGrpSpPr>
            <p:cNvPr id="124" name="Google Shape;124;p14"/>
            <p:cNvGrpSpPr/>
            <p:nvPr/>
          </p:nvGrpSpPr>
          <p:grpSpPr>
            <a:xfrm>
              <a:off x="128188" y="-93892"/>
              <a:ext cx="21640800" cy="11669753"/>
              <a:chOff x="0" y="-47625"/>
              <a:chExt cx="4274726" cy="2305136"/>
            </a:xfrm>
          </p:grpSpPr>
          <p:sp>
            <p:nvSpPr>
              <p:cNvPr id="125" name="Google Shape;125;p14"/>
              <p:cNvSpPr/>
              <p:nvPr/>
            </p:nvSpPr>
            <p:spPr>
              <a:xfrm>
                <a:off x="0" y="0"/>
                <a:ext cx="4274726" cy="2257511"/>
              </a:xfrm>
              <a:custGeom>
                <a:rect b="b" l="l" r="r" t="t"/>
                <a:pathLst>
                  <a:path extrusionOk="0"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628566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" name="Google Shape;126;p14"/>
              <p:cNvSpPr txBox="1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71055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7" name="Google Shape;127;p14"/>
            <p:cNvGrpSpPr/>
            <p:nvPr/>
          </p:nvGrpSpPr>
          <p:grpSpPr>
            <a:xfrm>
              <a:off x="0" y="-241102"/>
              <a:ext cx="21640800" cy="11669753"/>
              <a:chOff x="0" y="-47625"/>
              <a:chExt cx="4274726" cy="2305136"/>
            </a:xfrm>
          </p:grpSpPr>
          <p:sp>
            <p:nvSpPr>
              <p:cNvPr id="128" name="Google Shape;128;p14"/>
              <p:cNvSpPr/>
              <p:nvPr/>
            </p:nvSpPr>
            <p:spPr>
              <a:xfrm>
                <a:off x="0" y="0"/>
                <a:ext cx="4274726" cy="2257511"/>
              </a:xfrm>
              <a:custGeom>
                <a:rect b="b" l="l" r="r" t="t"/>
                <a:pathLst>
                  <a:path extrusionOk="0"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cap="sq" cmpd="sng" w="19050">
                <a:solidFill>
                  <a:srgbClr val="485849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" name="Google Shape;129;p14"/>
              <p:cNvSpPr txBox="1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71055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30" name="Google Shape;130;p14"/>
          <p:cNvSpPr/>
          <p:nvPr/>
        </p:nvSpPr>
        <p:spPr>
          <a:xfrm>
            <a:off x="15720211" y="231437"/>
            <a:ext cx="1136863" cy="1168738"/>
          </a:xfrm>
          <a:custGeom>
            <a:rect b="b" l="l" r="r" t="t"/>
            <a:pathLst>
              <a:path extrusionOk="0"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1" name="Google Shape;131;p14"/>
          <p:cNvGrpSpPr/>
          <p:nvPr/>
        </p:nvGrpSpPr>
        <p:grpSpPr>
          <a:xfrm>
            <a:off x="6181596" y="4365917"/>
            <a:ext cx="818710" cy="751550"/>
            <a:chOff x="0" y="-47625"/>
            <a:chExt cx="812800" cy="746125"/>
          </a:xfrm>
        </p:grpSpPr>
        <p:sp>
          <p:nvSpPr>
            <p:cNvPr id="132" name="Google Shape;132;p14"/>
            <p:cNvSpPr/>
            <p:nvPr/>
          </p:nvSpPr>
          <p:spPr>
            <a:xfrm>
              <a:off x="0" y="0"/>
              <a:ext cx="812800" cy="698500"/>
            </a:xfrm>
            <a:custGeom>
              <a:rect b="b" l="l" r="r" t="t"/>
              <a:pathLst>
                <a:path extrusionOk="0"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FFFFFF"/>
            </a:solidFill>
            <a:ln cap="sq" cmpd="sng" w="19050">
              <a:solidFill>
                <a:srgbClr val="485849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" name="Google Shape;133;p14"/>
            <p:cNvSpPr txBox="1"/>
            <p:nvPr/>
          </p:nvSpPr>
          <p:spPr>
            <a:xfrm>
              <a:off x="114300" y="-47625"/>
              <a:ext cx="584200" cy="7461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2600">
                  <a:solidFill>
                    <a:srgbClr val="727070"/>
                  </a:solidFill>
                  <a:latin typeface="Arial"/>
                  <a:ea typeface="Arial"/>
                  <a:cs typeface="Arial"/>
                  <a:sym typeface="Arial"/>
                </a:rPr>
                <a:t>01</a:t>
              </a:r>
              <a:endParaRPr/>
            </a:p>
          </p:txBody>
        </p:sp>
      </p:grpSp>
      <p:grpSp>
        <p:nvGrpSpPr>
          <p:cNvPr id="134" name="Google Shape;134;p14"/>
          <p:cNvGrpSpPr/>
          <p:nvPr/>
        </p:nvGrpSpPr>
        <p:grpSpPr>
          <a:xfrm>
            <a:off x="11914742" y="4365917"/>
            <a:ext cx="818710" cy="751550"/>
            <a:chOff x="0" y="-47625"/>
            <a:chExt cx="812800" cy="746125"/>
          </a:xfrm>
        </p:grpSpPr>
        <p:sp>
          <p:nvSpPr>
            <p:cNvPr id="135" name="Google Shape;135;p14"/>
            <p:cNvSpPr/>
            <p:nvPr/>
          </p:nvSpPr>
          <p:spPr>
            <a:xfrm>
              <a:off x="0" y="0"/>
              <a:ext cx="812800" cy="698500"/>
            </a:xfrm>
            <a:custGeom>
              <a:rect b="b" l="l" r="r" t="t"/>
              <a:pathLst>
                <a:path extrusionOk="0"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FFFFFF"/>
            </a:solidFill>
            <a:ln cap="sq" cmpd="sng" w="19050">
              <a:solidFill>
                <a:srgbClr val="62856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" name="Google Shape;136;p14"/>
            <p:cNvSpPr txBox="1"/>
            <p:nvPr/>
          </p:nvSpPr>
          <p:spPr>
            <a:xfrm>
              <a:off x="114300" y="-47625"/>
              <a:ext cx="584200" cy="7461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2600">
                  <a:solidFill>
                    <a:srgbClr val="727070"/>
                  </a:solidFill>
                  <a:latin typeface="Arial"/>
                  <a:ea typeface="Arial"/>
                  <a:cs typeface="Arial"/>
                  <a:sym typeface="Arial"/>
                </a:rPr>
                <a:t>05</a:t>
              </a:r>
              <a:endParaRPr/>
            </a:p>
          </p:txBody>
        </p:sp>
      </p:grpSp>
      <p:grpSp>
        <p:nvGrpSpPr>
          <p:cNvPr id="137" name="Google Shape;137;p14"/>
          <p:cNvGrpSpPr/>
          <p:nvPr/>
        </p:nvGrpSpPr>
        <p:grpSpPr>
          <a:xfrm>
            <a:off x="6181596" y="5502734"/>
            <a:ext cx="818710" cy="751550"/>
            <a:chOff x="0" y="-47625"/>
            <a:chExt cx="812800" cy="746125"/>
          </a:xfrm>
        </p:grpSpPr>
        <p:sp>
          <p:nvSpPr>
            <p:cNvPr id="138" name="Google Shape;138;p14"/>
            <p:cNvSpPr/>
            <p:nvPr/>
          </p:nvSpPr>
          <p:spPr>
            <a:xfrm>
              <a:off x="0" y="0"/>
              <a:ext cx="812800" cy="698500"/>
            </a:xfrm>
            <a:custGeom>
              <a:rect b="b" l="l" r="r" t="t"/>
              <a:pathLst>
                <a:path extrusionOk="0"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FFFFFF"/>
            </a:solidFill>
            <a:ln cap="sq" cmpd="sng" w="19050">
              <a:solidFill>
                <a:srgbClr val="62856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" name="Google Shape;139;p14"/>
            <p:cNvSpPr txBox="1"/>
            <p:nvPr/>
          </p:nvSpPr>
          <p:spPr>
            <a:xfrm>
              <a:off x="114300" y="-47625"/>
              <a:ext cx="584200" cy="7461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2600">
                  <a:solidFill>
                    <a:srgbClr val="727070"/>
                  </a:solidFill>
                  <a:latin typeface="Arial"/>
                  <a:ea typeface="Arial"/>
                  <a:cs typeface="Arial"/>
                  <a:sym typeface="Arial"/>
                </a:rPr>
                <a:t>02</a:t>
              </a:r>
              <a:endParaRPr/>
            </a:p>
          </p:txBody>
        </p:sp>
      </p:grpSp>
      <p:grpSp>
        <p:nvGrpSpPr>
          <p:cNvPr id="140" name="Google Shape;140;p14"/>
          <p:cNvGrpSpPr/>
          <p:nvPr/>
        </p:nvGrpSpPr>
        <p:grpSpPr>
          <a:xfrm>
            <a:off x="11914742" y="5502734"/>
            <a:ext cx="818710" cy="751550"/>
            <a:chOff x="0" y="-47625"/>
            <a:chExt cx="812800" cy="746125"/>
          </a:xfrm>
        </p:grpSpPr>
        <p:sp>
          <p:nvSpPr>
            <p:cNvPr id="141" name="Google Shape;141;p14"/>
            <p:cNvSpPr/>
            <p:nvPr/>
          </p:nvSpPr>
          <p:spPr>
            <a:xfrm>
              <a:off x="0" y="0"/>
              <a:ext cx="812800" cy="698500"/>
            </a:xfrm>
            <a:custGeom>
              <a:rect b="b" l="l" r="r" t="t"/>
              <a:pathLst>
                <a:path extrusionOk="0"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FFFFFF"/>
            </a:solidFill>
            <a:ln cap="sq" cmpd="sng" w="19050">
              <a:solidFill>
                <a:srgbClr val="62856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" name="Google Shape;142;p14"/>
            <p:cNvSpPr txBox="1"/>
            <p:nvPr/>
          </p:nvSpPr>
          <p:spPr>
            <a:xfrm>
              <a:off x="114300" y="-47625"/>
              <a:ext cx="584200" cy="7461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2600">
                  <a:solidFill>
                    <a:srgbClr val="727070"/>
                  </a:solidFill>
                  <a:latin typeface="Arial"/>
                  <a:ea typeface="Arial"/>
                  <a:cs typeface="Arial"/>
                  <a:sym typeface="Arial"/>
                </a:rPr>
                <a:t>06</a:t>
              </a:r>
              <a:endParaRPr/>
            </a:p>
          </p:txBody>
        </p:sp>
      </p:grpSp>
      <p:grpSp>
        <p:nvGrpSpPr>
          <p:cNvPr id="143" name="Google Shape;143;p14"/>
          <p:cNvGrpSpPr/>
          <p:nvPr/>
        </p:nvGrpSpPr>
        <p:grpSpPr>
          <a:xfrm>
            <a:off x="6181596" y="6635769"/>
            <a:ext cx="818710" cy="751550"/>
            <a:chOff x="0" y="-47625"/>
            <a:chExt cx="812800" cy="746125"/>
          </a:xfrm>
        </p:grpSpPr>
        <p:sp>
          <p:nvSpPr>
            <p:cNvPr id="144" name="Google Shape;144;p14"/>
            <p:cNvSpPr/>
            <p:nvPr/>
          </p:nvSpPr>
          <p:spPr>
            <a:xfrm>
              <a:off x="0" y="0"/>
              <a:ext cx="812800" cy="698500"/>
            </a:xfrm>
            <a:custGeom>
              <a:rect b="b" l="l" r="r" t="t"/>
              <a:pathLst>
                <a:path extrusionOk="0"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FFFFFF"/>
            </a:solidFill>
            <a:ln cap="sq" cmpd="sng" w="19050">
              <a:solidFill>
                <a:srgbClr val="62856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" name="Google Shape;145;p14"/>
            <p:cNvSpPr txBox="1"/>
            <p:nvPr/>
          </p:nvSpPr>
          <p:spPr>
            <a:xfrm>
              <a:off x="114300" y="-47625"/>
              <a:ext cx="584200" cy="7461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2600">
                  <a:solidFill>
                    <a:srgbClr val="727070"/>
                  </a:solidFill>
                  <a:latin typeface="Arial"/>
                  <a:ea typeface="Arial"/>
                  <a:cs typeface="Arial"/>
                  <a:sym typeface="Arial"/>
                </a:rPr>
                <a:t>03</a:t>
              </a:r>
              <a:endParaRPr/>
            </a:p>
          </p:txBody>
        </p:sp>
      </p:grpSp>
      <p:grpSp>
        <p:nvGrpSpPr>
          <p:cNvPr id="146" name="Google Shape;146;p14"/>
          <p:cNvGrpSpPr/>
          <p:nvPr/>
        </p:nvGrpSpPr>
        <p:grpSpPr>
          <a:xfrm>
            <a:off x="11914742" y="6635769"/>
            <a:ext cx="818710" cy="751550"/>
            <a:chOff x="0" y="-47625"/>
            <a:chExt cx="812800" cy="746125"/>
          </a:xfrm>
        </p:grpSpPr>
        <p:sp>
          <p:nvSpPr>
            <p:cNvPr id="147" name="Google Shape;147;p14"/>
            <p:cNvSpPr/>
            <p:nvPr/>
          </p:nvSpPr>
          <p:spPr>
            <a:xfrm>
              <a:off x="0" y="0"/>
              <a:ext cx="812800" cy="698500"/>
            </a:xfrm>
            <a:custGeom>
              <a:rect b="b" l="l" r="r" t="t"/>
              <a:pathLst>
                <a:path extrusionOk="0"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FFFFFF"/>
            </a:solidFill>
            <a:ln cap="sq" cmpd="sng" w="19050">
              <a:solidFill>
                <a:srgbClr val="62856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" name="Google Shape;148;p14"/>
            <p:cNvSpPr txBox="1"/>
            <p:nvPr/>
          </p:nvSpPr>
          <p:spPr>
            <a:xfrm>
              <a:off x="114300" y="-47625"/>
              <a:ext cx="584200" cy="7461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2600">
                  <a:solidFill>
                    <a:srgbClr val="727070"/>
                  </a:solidFill>
                  <a:latin typeface="Arial"/>
                  <a:ea typeface="Arial"/>
                  <a:cs typeface="Arial"/>
                  <a:sym typeface="Arial"/>
                </a:rPr>
                <a:t>07</a:t>
              </a:r>
              <a:endParaRPr/>
            </a:p>
          </p:txBody>
        </p:sp>
      </p:grpSp>
      <p:grpSp>
        <p:nvGrpSpPr>
          <p:cNvPr id="149" name="Google Shape;149;p14"/>
          <p:cNvGrpSpPr/>
          <p:nvPr/>
        </p:nvGrpSpPr>
        <p:grpSpPr>
          <a:xfrm>
            <a:off x="6181596" y="7768804"/>
            <a:ext cx="818710" cy="751550"/>
            <a:chOff x="0" y="-47625"/>
            <a:chExt cx="812800" cy="746125"/>
          </a:xfrm>
        </p:grpSpPr>
        <p:sp>
          <p:nvSpPr>
            <p:cNvPr id="150" name="Google Shape;150;p14"/>
            <p:cNvSpPr/>
            <p:nvPr/>
          </p:nvSpPr>
          <p:spPr>
            <a:xfrm>
              <a:off x="0" y="0"/>
              <a:ext cx="812800" cy="698500"/>
            </a:xfrm>
            <a:custGeom>
              <a:rect b="b" l="l" r="r" t="t"/>
              <a:pathLst>
                <a:path extrusionOk="0"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FFFFFF"/>
            </a:solidFill>
            <a:ln cap="sq" cmpd="sng" w="19050">
              <a:solidFill>
                <a:srgbClr val="62856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" name="Google Shape;151;p14"/>
            <p:cNvSpPr txBox="1"/>
            <p:nvPr/>
          </p:nvSpPr>
          <p:spPr>
            <a:xfrm>
              <a:off x="114300" y="-47625"/>
              <a:ext cx="584200" cy="7461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2600">
                  <a:solidFill>
                    <a:srgbClr val="727070"/>
                  </a:solidFill>
                  <a:latin typeface="Arial"/>
                  <a:ea typeface="Arial"/>
                  <a:cs typeface="Arial"/>
                  <a:sym typeface="Arial"/>
                </a:rPr>
                <a:t>04</a:t>
              </a:r>
              <a:endParaRPr/>
            </a:p>
          </p:txBody>
        </p:sp>
      </p:grpSp>
      <p:sp>
        <p:nvSpPr>
          <p:cNvPr id="152" name="Google Shape;152;p14"/>
          <p:cNvSpPr txBox="1"/>
          <p:nvPr/>
        </p:nvSpPr>
        <p:spPr>
          <a:xfrm>
            <a:off x="2017519" y="1749808"/>
            <a:ext cx="3481325" cy="1427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306">
                <a:solidFill>
                  <a:srgbClr val="485849"/>
                </a:solidFill>
                <a:latin typeface="Arial"/>
                <a:ea typeface="Arial"/>
                <a:cs typeface="Arial"/>
                <a:sym typeface="Arial"/>
              </a:rPr>
              <a:t>목차</a:t>
            </a:r>
            <a:endParaRPr/>
          </a:p>
        </p:txBody>
      </p:sp>
      <p:sp>
        <p:nvSpPr>
          <p:cNvPr id="153" name="Google Shape;153;p14"/>
          <p:cNvSpPr txBox="1"/>
          <p:nvPr/>
        </p:nvSpPr>
        <p:spPr>
          <a:xfrm>
            <a:off x="7221962" y="4509122"/>
            <a:ext cx="3870726" cy="455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673">
                <a:solidFill>
                  <a:srgbClr val="658C6A"/>
                </a:solidFill>
                <a:latin typeface="Arial"/>
                <a:ea typeface="Arial"/>
                <a:cs typeface="Arial"/>
                <a:sym typeface="Arial"/>
              </a:rPr>
              <a:t>팀이름 &amp; 프로젝트 이름</a:t>
            </a:r>
            <a:endParaRPr sz="2673">
              <a:solidFill>
                <a:srgbClr val="658C6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14"/>
          <p:cNvSpPr txBox="1"/>
          <p:nvPr/>
        </p:nvSpPr>
        <p:spPr>
          <a:xfrm>
            <a:off x="12952527" y="4509122"/>
            <a:ext cx="3870726" cy="455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673">
                <a:solidFill>
                  <a:srgbClr val="658C6A"/>
                </a:solidFill>
                <a:latin typeface="Arial"/>
                <a:ea typeface="Arial"/>
                <a:cs typeface="Arial"/>
                <a:sym typeface="Arial"/>
              </a:rPr>
              <a:t>구현목표-차별성</a:t>
            </a:r>
            <a:endParaRPr/>
          </a:p>
        </p:txBody>
      </p:sp>
      <p:sp>
        <p:nvSpPr>
          <p:cNvPr id="155" name="Google Shape;155;p14"/>
          <p:cNvSpPr txBox="1"/>
          <p:nvPr/>
        </p:nvSpPr>
        <p:spPr>
          <a:xfrm>
            <a:off x="7221962" y="5645938"/>
            <a:ext cx="3870726" cy="455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673">
                <a:solidFill>
                  <a:srgbClr val="658C6A"/>
                </a:solidFill>
                <a:latin typeface="Arial"/>
                <a:ea typeface="Arial"/>
                <a:cs typeface="Arial"/>
                <a:sym typeface="Arial"/>
              </a:rPr>
              <a:t>구성원 소개</a:t>
            </a:r>
            <a:endParaRPr/>
          </a:p>
        </p:txBody>
      </p:sp>
      <p:sp>
        <p:nvSpPr>
          <p:cNvPr id="156" name="Google Shape;156;p14"/>
          <p:cNvSpPr txBox="1"/>
          <p:nvPr/>
        </p:nvSpPr>
        <p:spPr>
          <a:xfrm>
            <a:off x="7221962" y="7910412"/>
            <a:ext cx="3870726" cy="455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673">
                <a:solidFill>
                  <a:srgbClr val="658C6A"/>
                </a:solidFill>
                <a:latin typeface="Arial"/>
                <a:ea typeface="Arial"/>
                <a:cs typeface="Arial"/>
                <a:sym typeface="Arial"/>
              </a:rPr>
              <a:t>구현목표 - 기존사이트</a:t>
            </a:r>
            <a:endParaRPr/>
          </a:p>
        </p:txBody>
      </p:sp>
      <p:sp>
        <p:nvSpPr>
          <p:cNvPr id="157" name="Google Shape;157;p14"/>
          <p:cNvSpPr txBox="1"/>
          <p:nvPr/>
        </p:nvSpPr>
        <p:spPr>
          <a:xfrm>
            <a:off x="12952527" y="5645938"/>
            <a:ext cx="3799314" cy="455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673">
                <a:solidFill>
                  <a:srgbClr val="658C6A"/>
                </a:solidFill>
                <a:latin typeface="Arial"/>
                <a:ea typeface="Arial"/>
                <a:cs typeface="Arial"/>
                <a:sym typeface="Arial"/>
              </a:rPr>
              <a:t>요구사항 정의서</a:t>
            </a:r>
            <a:endParaRPr/>
          </a:p>
        </p:txBody>
      </p:sp>
      <p:sp>
        <p:nvSpPr>
          <p:cNvPr id="158" name="Google Shape;158;p14"/>
          <p:cNvSpPr txBox="1"/>
          <p:nvPr/>
        </p:nvSpPr>
        <p:spPr>
          <a:xfrm>
            <a:off x="12952527" y="6778175"/>
            <a:ext cx="3799314" cy="455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673">
                <a:solidFill>
                  <a:srgbClr val="658C6A"/>
                </a:solidFill>
                <a:latin typeface="Arial"/>
                <a:ea typeface="Arial"/>
                <a:cs typeface="Arial"/>
                <a:sym typeface="Arial"/>
              </a:rPr>
              <a:t>단위업무 정의서</a:t>
            </a:r>
            <a:endParaRPr/>
          </a:p>
        </p:txBody>
      </p:sp>
      <p:sp>
        <p:nvSpPr>
          <p:cNvPr id="159" name="Google Shape;159;p14"/>
          <p:cNvSpPr txBox="1"/>
          <p:nvPr/>
        </p:nvSpPr>
        <p:spPr>
          <a:xfrm>
            <a:off x="7221962" y="6778973"/>
            <a:ext cx="3870726" cy="455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673">
                <a:solidFill>
                  <a:srgbClr val="658C6A"/>
                </a:solidFill>
                <a:latin typeface="Arial"/>
                <a:ea typeface="Arial"/>
                <a:cs typeface="Arial"/>
                <a:sym typeface="Arial"/>
              </a:rPr>
              <a:t>개발 배경</a:t>
            </a:r>
            <a:endParaRPr/>
          </a:p>
        </p:txBody>
      </p:sp>
      <p:grpSp>
        <p:nvGrpSpPr>
          <p:cNvPr id="160" name="Google Shape;160;p14"/>
          <p:cNvGrpSpPr/>
          <p:nvPr/>
        </p:nvGrpSpPr>
        <p:grpSpPr>
          <a:xfrm>
            <a:off x="11945215" y="7686943"/>
            <a:ext cx="818710" cy="751550"/>
            <a:chOff x="0" y="-47625"/>
            <a:chExt cx="812800" cy="746125"/>
          </a:xfrm>
        </p:grpSpPr>
        <p:sp>
          <p:nvSpPr>
            <p:cNvPr id="161" name="Google Shape;161;p14"/>
            <p:cNvSpPr/>
            <p:nvPr/>
          </p:nvSpPr>
          <p:spPr>
            <a:xfrm>
              <a:off x="0" y="0"/>
              <a:ext cx="812800" cy="698500"/>
            </a:xfrm>
            <a:custGeom>
              <a:rect b="b" l="l" r="r" t="t"/>
              <a:pathLst>
                <a:path extrusionOk="0"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FFFFFF"/>
            </a:solidFill>
            <a:ln cap="sq" cmpd="sng" w="19050">
              <a:solidFill>
                <a:srgbClr val="62856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" name="Google Shape;162;p14"/>
            <p:cNvSpPr txBox="1"/>
            <p:nvPr/>
          </p:nvSpPr>
          <p:spPr>
            <a:xfrm>
              <a:off x="114300" y="-47625"/>
              <a:ext cx="584200" cy="7461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2600">
                  <a:solidFill>
                    <a:srgbClr val="727070"/>
                  </a:solidFill>
                  <a:latin typeface="Arial"/>
                  <a:ea typeface="Arial"/>
                  <a:cs typeface="Arial"/>
                  <a:sym typeface="Arial"/>
                </a:rPr>
                <a:t>08</a:t>
              </a:r>
              <a:endParaRPr/>
            </a:p>
          </p:txBody>
        </p:sp>
      </p:grpSp>
      <p:sp>
        <p:nvSpPr>
          <p:cNvPr id="163" name="Google Shape;163;p14"/>
          <p:cNvSpPr txBox="1"/>
          <p:nvPr/>
        </p:nvSpPr>
        <p:spPr>
          <a:xfrm>
            <a:off x="12983000" y="7829349"/>
            <a:ext cx="3799314" cy="455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673">
                <a:solidFill>
                  <a:srgbClr val="658C6A"/>
                </a:solidFill>
                <a:latin typeface="Arial"/>
                <a:ea typeface="Arial"/>
                <a:cs typeface="Arial"/>
                <a:sym typeface="Arial"/>
              </a:rPr>
              <a:t>코드 리뷰</a:t>
            </a:r>
            <a:endParaRPr sz="2673">
              <a:solidFill>
                <a:srgbClr val="658C6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A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8" name="Google Shape;168;p15"/>
          <p:cNvGrpSpPr/>
          <p:nvPr/>
        </p:nvGrpSpPr>
        <p:grpSpPr>
          <a:xfrm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id="169" name="Google Shape;169;p15"/>
            <p:cNvSpPr/>
            <p:nvPr/>
          </p:nvSpPr>
          <p:spPr>
            <a:xfrm>
              <a:off x="0" y="0"/>
              <a:ext cx="6982743" cy="6982743"/>
            </a:xfrm>
            <a:custGeom>
              <a:rect b="b" l="l" r="r" t="t"/>
              <a:pathLst>
                <a:path extrusionOk="0"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63000"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" name="Google Shape;170;p15"/>
            <p:cNvSpPr/>
            <p:nvPr/>
          </p:nvSpPr>
          <p:spPr>
            <a:xfrm>
              <a:off x="6955551" y="0"/>
              <a:ext cx="6982743" cy="6982743"/>
            </a:xfrm>
            <a:custGeom>
              <a:rect b="b" l="l" r="r" t="t"/>
              <a:pathLst>
                <a:path extrusionOk="0"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63000"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" name="Google Shape;171;p15"/>
            <p:cNvSpPr/>
            <p:nvPr/>
          </p:nvSpPr>
          <p:spPr>
            <a:xfrm>
              <a:off x="13883911" y="0"/>
              <a:ext cx="6982743" cy="6982743"/>
            </a:xfrm>
            <a:custGeom>
              <a:rect b="b" l="l" r="r" t="t"/>
              <a:pathLst>
                <a:path extrusionOk="0"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63000"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" name="Google Shape;172;p15"/>
            <p:cNvSpPr/>
            <p:nvPr/>
          </p:nvSpPr>
          <p:spPr>
            <a:xfrm>
              <a:off x="20812271" y="0"/>
              <a:ext cx="6982743" cy="6982743"/>
            </a:xfrm>
            <a:custGeom>
              <a:rect b="b" l="l" r="r" t="t"/>
              <a:pathLst>
                <a:path extrusionOk="0"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63000"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" name="Google Shape;173;p15"/>
            <p:cNvSpPr/>
            <p:nvPr/>
          </p:nvSpPr>
          <p:spPr>
            <a:xfrm>
              <a:off x="0" y="6958390"/>
              <a:ext cx="6982743" cy="6982743"/>
            </a:xfrm>
            <a:custGeom>
              <a:rect b="b" l="l" r="r" t="t"/>
              <a:pathLst>
                <a:path extrusionOk="0"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63000"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" name="Google Shape;174;p15"/>
            <p:cNvSpPr/>
            <p:nvPr/>
          </p:nvSpPr>
          <p:spPr>
            <a:xfrm>
              <a:off x="6955551" y="6958390"/>
              <a:ext cx="6982743" cy="6982743"/>
            </a:xfrm>
            <a:custGeom>
              <a:rect b="b" l="l" r="r" t="t"/>
              <a:pathLst>
                <a:path extrusionOk="0"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63000"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" name="Google Shape;175;p15"/>
            <p:cNvSpPr/>
            <p:nvPr/>
          </p:nvSpPr>
          <p:spPr>
            <a:xfrm>
              <a:off x="13883911" y="6958390"/>
              <a:ext cx="6982743" cy="6982743"/>
            </a:xfrm>
            <a:custGeom>
              <a:rect b="b" l="l" r="r" t="t"/>
              <a:pathLst>
                <a:path extrusionOk="0"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63000"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" name="Google Shape;176;p15"/>
            <p:cNvSpPr/>
            <p:nvPr/>
          </p:nvSpPr>
          <p:spPr>
            <a:xfrm>
              <a:off x="20812271" y="6958390"/>
              <a:ext cx="6982743" cy="6982743"/>
            </a:xfrm>
            <a:custGeom>
              <a:rect b="b" l="l" r="r" t="t"/>
              <a:pathLst>
                <a:path extrusionOk="0"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63000"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7" name="Google Shape;177;p15"/>
          <p:cNvGrpSpPr/>
          <p:nvPr/>
        </p:nvGrpSpPr>
        <p:grpSpPr>
          <a:xfrm>
            <a:off x="980630" y="657693"/>
            <a:ext cx="16326741" cy="8862722"/>
            <a:chOff x="0" y="-241102"/>
            <a:chExt cx="21768988" cy="11816963"/>
          </a:xfrm>
        </p:grpSpPr>
        <p:grpSp>
          <p:nvGrpSpPr>
            <p:cNvPr id="178" name="Google Shape;178;p15"/>
            <p:cNvGrpSpPr/>
            <p:nvPr/>
          </p:nvGrpSpPr>
          <p:grpSpPr>
            <a:xfrm>
              <a:off x="128188" y="-93892"/>
              <a:ext cx="21640800" cy="11669753"/>
              <a:chOff x="0" y="-47625"/>
              <a:chExt cx="4274726" cy="2305136"/>
            </a:xfrm>
          </p:grpSpPr>
          <p:sp>
            <p:nvSpPr>
              <p:cNvPr id="179" name="Google Shape;179;p15"/>
              <p:cNvSpPr/>
              <p:nvPr/>
            </p:nvSpPr>
            <p:spPr>
              <a:xfrm>
                <a:off x="0" y="0"/>
                <a:ext cx="4274726" cy="2257511"/>
              </a:xfrm>
              <a:custGeom>
                <a:rect b="b" l="l" r="r" t="t"/>
                <a:pathLst>
                  <a:path extrusionOk="0"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628566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0" name="Google Shape;180;p15"/>
              <p:cNvSpPr txBox="1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71055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1" name="Google Shape;181;p15"/>
            <p:cNvGrpSpPr/>
            <p:nvPr/>
          </p:nvGrpSpPr>
          <p:grpSpPr>
            <a:xfrm>
              <a:off x="0" y="-241102"/>
              <a:ext cx="21640800" cy="11669753"/>
              <a:chOff x="0" y="-47625"/>
              <a:chExt cx="4274726" cy="2305136"/>
            </a:xfrm>
          </p:grpSpPr>
          <p:sp>
            <p:nvSpPr>
              <p:cNvPr id="182" name="Google Shape;182;p15"/>
              <p:cNvSpPr/>
              <p:nvPr/>
            </p:nvSpPr>
            <p:spPr>
              <a:xfrm>
                <a:off x="0" y="0"/>
                <a:ext cx="4274726" cy="2257511"/>
              </a:xfrm>
              <a:custGeom>
                <a:rect b="b" l="l" r="r" t="t"/>
                <a:pathLst>
                  <a:path extrusionOk="0"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cap="sq" cmpd="sng" w="19050">
                <a:solidFill>
                  <a:srgbClr val="485849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3" name="Google Shape;183;p15"/>
              <p:cNvSpPr txBox="1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71055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84" name="Google Shape;184;p15"/>
          <p:cNvSpPr/>
          <p:nvPr/>
        </p:nvSpPr>
        <p:spPr>
          <a:xfrm>
            <a:off x="15720211" y="231437"/>
            <a:ext cx="1136863" cy="1168738"/>
          </a:xfrm>
          <a:custGeom>
            <a:rect b="b" l="l" r="r" t="t"/>
            <a:pathLst>
              <a:path extrusionOk="0"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5" name="Google Shape;185;p15"/>
          <p:cNvGrpSpPr/>
          <p:nvPr/>
        </p:nvGrpSpPr>
        <p:grpSpPr>
          <a:xfrm>
            <a:off x="2281366" y="3379010"/>
            <a:ext cx="6642252" cy="5244550"/>
            <a:chOff x="0" y="-66675"/>
            <a:chExt cx="1813523" cy="1431911"/>
          </a:xfrm>
        </p:grpSpPr>
        <p:sp>
          <p:nvSpPr>
            <p:cNvPr id="186" name="Google Shape;186;p15"/>
            <p:cNvSpPr/>
            <p:nvPr/>
          </p:nvSpPr>
          <p:spPr>
            <a:xfrm>
              <a:off x="0" y="0"/>
              <a:ext cx="1813523" cy="1365236"/>
            </a:xfrm>
            <a:custGeom>
              <a:rect b="b" l="l" r="r" t="t"/>
              <a:pathLst>
                <a:path extrusionOk="0" h="1365236" w="1813523">
                  <a:moveTo>
                    <a:pt x="116556" y="0"/>
                  </a:moveTo>
                  <a:lnTo>
                    <a:pt x="1696967" y="0"/>
                  </a:lnTo>
                  <a:cubicBezTo>
                    <a:pt x="1727879" y="0"/>
                    <a:pt x="1757526" y="12280"/>
                    <a:pt x="1779384" y="34138"/>
                  </a:cubicBezTo>
                  <a:cubicBezTo>
                    <a:pt x="1801243" y="55997"/>
                    <a:pt x="1813523" y="85643"/>
                    <a:pt x="1813523" y="116556"/>
                  </a:cubicBezTo>
                  <a:lnTo>
                    <a:pt x="1813523" y="1248680"/>
                  </a:lnTo>
                  <a:cubicBezTo>
                    <a:pt x="1813523" y="1313052"/>
                    <a:pt x="1761339" y="1365236"/>
                    <a:pt x="1696967" y="1365236"/>
                  </a:cubicBezTo>
                  <a:lnTo>
                    <a:pt x="116556" y="1365236"/>
                  </a:lnTo>
                  <a:cubicBezTo>
                    <a:pt x="52184" y="1365236"/>
                    <a:pt x="0" y="1313052"/>
                    <a:pt x="0" y="1248680"/>
                  </a:cubicBezTo>
                  <a:lnTo>
                    <a:pt x="0" y="116556"/>
                  </a:lnTo>
                  <a:cubicBezTo>
                    <a:pt x="0" y="52184"/>
                    <a:pt x="52184" y="0"/>
                    <a:pt x="116556" y="0"/>
                  </a:cubicBezTo>
                  <a:close/>
                </a:path>
              </a:pathLst>
            </a:custGeom>
            <a:solidFill>
              <a:srgbClr val="E3F0E5">
                <a:alpha val="30588"/>
              </a:srgbClr>
            </a:solidFill>
            <a:ln cap="rnd" cmpd="sng" w="19050">
              <a:solidFill>
                <a:srgbClr val="3E4047">
                  <a:alpha val="30588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" name="Google Shape;187;p15"/>
            <p:cNvSpPr txBox="1"/>
            <p:nvPr/>
          </p:nvSpPr>
          <p:spPr>
            <a:xfrm>
              <a:off x="0" y="-66675"/>
              <a:ext cx="1813523" cy="14319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3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8" name="Google Shape;188;p15"/>
          <p:cNvGrpSpPr/>
          <p:nvPr/>
        </p:nvGrpSpPr>
        <p:grpSpPr>
          <a:xfrm>
            <a:off x="9387845" y="3379010"/>
            <a:ext cx="6618789" cy="5244550"/>
            <a:chOff x="0" y="-66675"/>
            <a:chExt cx="1807117" cy="1431911"/>
          </a:xfrm>
        </p:grpSpPr>
        <p:sp>
          <p:nvSpPr>
            <p:cNvPr id="189" name="Google Shape;189;p15"/>
            <p:cNvSpPr/>
            <p:nvPr/>
          </p:nvSpPr>
          <p:spPr>
            <a:xfrm>
              <a:off x="0" y="0"/>
              <a:ext cx="1807117" cy="1365236"/>
            </a:xfrm>
            <a:custGeom>
              <a:rect b="b" l="l" r="r" t="t"/>
              <a:pathLst>
                <a:path extrusionOk="0" h="1365236" w="1807117">
                  <a:moveTo>
                    <a:pt x="116969" y="0"/>
                  </a:moveTo>
                  <a:lnTo>
                    <a:pt x="1690148" y="0"/>
                  </a:lnTo>
                  <a:cubicBezTo>
                    <a:pt x="1721170" y="0"/>
                    <a:pt x="1750921" y="12323"/>
                    <a:pt x="1772857" y="34259"/>
                  </a:cubicBezTo>
                  <a:cubicBezTo>
                    <a:pt x="1794793" y="56195"/>
                    <a:pt x="1807117" y="85947"/>
                    <a:pt x="1807117" y="116969"/>
                  </a:cubicBezTo>
                  <a:lnTo>
                    <a:pt x="1807117" y="1248267"/>
                  </a:lnTo>
                  <a:cubicBezTo>
                    <a:pt x="1807117" y="1312867"/>
                    <a:pt x="1754748" y="1365236"/>
                    <a:pt x="1690148" y="1365236"/>
                  </a:cubicBezTo>
                  <a:lnTo>
                    <a:pt x="116969" y="1365236"/>
                  </a:lnTo>
                  <a:cubicBezTo>
                    <a:pt x="52369" y="1365236"/>
                    <a:pt x="0" y="1312867"/>
                    <a:pt x="0" y="1248267"/>
                  </a:cubicBezTo>
                  <a:lnTo>
                    <a:pt x="0" y="116969"/>
                  </a:lnTo>
                  <a:cubicBezTo>
                    <a:pt x="0" y="52369"/>
                    <a:pt x="52369" y="0"/>
                    <a:pt x="116969" y="0"/>
                  </a:cubicBezTo>
                  <a:close/>
                </a:path>
              </a:pathLst>
            </a:custGeom>
            <a:solidFill>
              <a:srgbClr val="E3F0E5">
                <a:alpha val="49803"/>
              </a:srgbClr>
            </a:solidFill>
            <a:ln cap="rnd" cmpd="sng" w="19050">
              <a:solidFill>
                <a:srgbClr val="485849">
                  <a:alpha val="49803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" name="Google Shape;190;p15"/>
            <p:cNvSpPr txBox="1"/>
            <p:nvPr/>
          </p:nvSpPr>
          <p:spPr>
            <a:xfrm>
              <a:off x="0" y="-66675"/>
              <a:ext cx="1807117" cy="14319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3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91" name="Google Shape;191;p15"/>
          <p:cNvCxnSpPr/>
          <p:nvPr/>
        </p:nvCxnSpPr>
        <p:spPr>
          <a:xfrm>
            <a:off x="2305200" y="4714485"/>
            <a:ext cx="6618417" cy="16199"/>
          </a:xfrm>
          <a:prstGeom prst="straightConnector1">
            <a:avLst/>
          </a:prstGeom>
          <a:noFill/>
          <a:ln cap="flat" cmpd="sng" w="19050">
            <a:solidFill>
              <a:srgbClr val="485849">
                <a:alpha val="60392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2" name="Google Shape;192;p15"/>
          <p:cNvCxnSpPr/>
          <p:nvPr/>
        </p:nvCxnSpPr>
        <p:spPr>
          <a:xfrm>
            <a:off x="9387845" y="4724010"/>
            <a:ext cx="6618789" cy="0"/>
          </a:xfrm>
          <a:prstGeom prst="straightConnector1">
            <a:avLst/>
          </a:prstGeom>
          <a:noFill/>
          <a:ln cap="flat" cmpd="sng" w="19050">
            <a:solidFill>
              <a:srgbClr val="485849">
                <a:alpha val="6549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3" name="Google Shape;193;p15"/>
          <p:cNvSpPr txBox="1"/>
          <p:nvPr/>
        </p:nvSpPr>
        <p:spPr>
          <a:xfrm>
            <a:off x="3870789" y="1401775"/>
            <a:ext cx="9894731" cy="1184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6999">
                <a:solidFill>
                  <a:srgbClr val="485849"/>
                </a:solidFill>
                <a:latin typeface="Arial"/>
                <a:ea typeface="Arial"/>
                <a:cs typeface="Arial"/>
                <a:sym typeface="Arial"/>
              </a:rPr>
              <a:t>팀이름 &amp; 프로젝트 이름</a:t>
            </a:r>
            <a:endParaRPr/>
          </a:p>
        </p:txBody>
      </p:sp>
      <p:sp>
        <p:nvSpPr>
          <p:cNvPr id="194" name="Google Shape;194;p15"/>
          <p:cNvSpPr txBox="1"/>
          <p:nvPr/>
        </p:nvSpPr>
        <p:spPr>
          <a:xfrm>
            <a:off x="2595124" y="5083709"/>
            <a:ext cx="6253711" cy="2848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>
                <a:solidFill>
                  <a:srgbClr val="485849"/>
                </a:solidFill>
                <a:latin typeface="Calibri"/>
                <a:ea typeface="Calibri"/>
                <a:cs typeface="Calibri"/>
                <a:sym typeface="Calibri"/>
              </a:rPr>
              <a:t>저희 팀은 총 5명으로 구성되어 있으며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>
                <a:solidFill>
                  <a:srgbClr val="485849"/>
                </a:solidFill>
                <a:latin typeface="Calibri"/>
                <a:ea typeface="Calibri"/>
                <a:cs typeface="Calibri"/>
                <a:sym typeface="Calibri"/>
              </a:rPr>
              <a:t>저희 팀은 유머감각과 창의성을 바탕으로, 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>
                <a:solidFill>
                  <a:srgbClr val="485849"/>
                </a:solidFill>
                <a:latin typeface="Calibri"/>
                <a:ea typeface="Calibri"/>
                <a:cs typeface="Calibri"/>
                <a:sym typeface="Calibri"/>
              </a:rPr>
              <a:t>역할과 성별에 구애받지 않고 </a:t>
            </a:r>
            <a:endParaRPr sz="2000">
              <a:solidFill>
                <a:srgbClr val="48584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>
                <a:solidFill>
                  <a:srgbClr val="485849"/>
                </a:solidFill>
                <a:latin typeface="Calibri"/>
                <a:ea typeface="Calibri"/>
                <a:cs typeface="Calibri"/>
                <a:sym typeface="Calibri"/>
              </a:rPr>
              <a:t>자유롭게 아이디어를나누며 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>
                <a:solidFill>
                  <a:srgbClr val="485849"/>
                </a:solidFill>
                <a:latin typeface="Calibri"/>
                <a:ea typeface="Calibri"/>
                <a:cs typeface="Calibri"/>
                <a:sym typeface="Calibri"/>
              </a:rPr>
              <a:t>협업하는 팀 문화를 지향하고 있습니다. 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>
                <a:solidFill>
                  <a:srgbClr val="485849"/>
                </a:solidFill>
                <a:latin typeface="Calibri"/>
                <a:ea typeface="Calibri"/>
                <a:cs typeface="Calibri"/>
                <a:sym typeface="Calibri"/>
              </a:rPr>
              <a:t>팀명 속 유쾌함처럼, 프로젝트 또한 즐겁고 개성 있게 풀어나가며 사용자에게도 즐거움을 줄 수 있는 결과물을 만들어가는 것이 저희의 목표입니다!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5"/>
          <p:cNvSpPr txBox="1"/>
          <p:nvPr/>
        </p:nvSpPr>
        <p:spPr>
          <a:xfrm>
            <a:off x="9498788" y="4904173"/>
            <a:ext cx="6603987" cy="32070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>
                <a:solidFill>
                  <a:srgbClr val="485849"/>
                </a:solidFill>
                <a:latin typeface="Calibri"/>
                <a:ea typeface="Calibri"/>
                <a:cs typeface="Calibri"/>
                <a:sym typeface="Calibri"/>
              </a:rPr>
              <a:t>저희 프로젝트의 이름은 ZOOZOO CLUB입니다.</a:t>
            </a:r>
            <a:br>
              <a:rPr lang="ko-K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ko-KR" sz="2000">
                <a:solidFill>
                  <a:srgbClr val="485849"/>
                </a:solidFill>
                <a:latin typeface="Calibri"/>
                <a:ea typeface="Calibri"/>
                <a:cs typeface="Calibri"/>
                <a:sym typeface="Calibri"/>
              </a:rPr>
              <a:t> 'ZOO'는 반려동물, 그리고 </a:t>
            </a:r>
            <a:endParaRPr sz="2000">
              <a:solidFill>
                <a:srgbClr val="48584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>
                <a:solidFill>
                  <a:srgbClr val="485849"/>
                </a:solidFill>
                <a:latin typeface="Calibri"/>
                <a:ea typeface="Calibri"/>
                <a:cs typeface="Calibri"/>
                <a:sym typeface="Calibri"/>
              </a:rPr>
              <a:t>동물들이 함께 어울리는 공간을 의미, 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>
                <a:solidFill>
                  <a:srgbClr val="485849"/>
                </a:solidFill>
                <a:latin typeface="Calibri"/>
                <a:ea typeface="Calibri"/>
                <a:cs typeface="Calibri"/>
                <a:sym typeface="Calibri"/>
              </a:rPr>
              <a:t>'CLUB'은 반려동물을 사랑하는 사람들, 즉 보호자들이 모여 정보를 공유하고 소통하는 </a:t>
            </a:r>
            <a:endParaRPr sz="2000">
              <a:solidFill>
                <a:srgbClr val="48584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>
                <a:solidFill>
                  <a:srgbClr val="485849"/>
                </a:solidFill>
                <a:latin typeface="Calibri"/>
                <a:ea typeface="Calibri"/>
                <a:cs typeface="Calibri"/>
                <a:sym typeface="Calibri"/>
              </a:rPr>
              <a:t>커뮤니티의 의미를 담고 있습니다.</a:t>
            </a:r>
            <a:br>
              <a:rPr lang="ko-K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ko-KR" sz="2000">
                <a:solidFill>
                  <a:srgbClr val="485849"/>
                </a:solidFill>
                <a:latin typeface="Calibri"/>
                <a:ea typeface="Calibri"/>
                <a:cs typeface="Calibri"/>
                <a:sym typeface="Calibri"/>
              </a:rPr>
              <a:t> ZOOZOO CLUB은 반려동물과 보호자 모두가 함께 즐기고, 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>
                <a:solidFill>
                  <a:srgbClr val="485849"/>
                </a:solidFill>
                <a:latin typeface="Calibri"/>
                <a:ea typeface="Calibri"/>
                <a:cs typeface="Calibri"/>
                <a:sym typeface="Calibri"/>
              </a:rPr>
              <a:t>배우고, 필요한 것들을 찾을 수 있는 따뜻한 온라인 놀이터이자 정보 허브가 되는 것을 목표로 합니다.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5"/>
          <p:cNvSpPr txBox="1"/>
          <p:nvPr/>
        </p:nvSpPr>
        <p:spPr>
          <a:xfrm>
            <a:off x="1822669" y="989012"/>
            <a:ext cx="2048120" cy="1765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0350">
                <a:solidFill>
                  <a:srgbClr val="8CB791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197" name="Google Shape;197;p15"/>
          <p:cNvSpPr txBox="1"/>
          <p:nvPr/>
        </p:nvSpPr>
        <p:spPr>
          <a:xfrm>
            <a:off x="3179564" y="3959301"/>
            <a:ext cx="4905931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000">
                <a:solidFill>
                  <a:srgbClr val="658C6A"/>
                </a:solidFill>
                <a:latin typeface="Arial"/>
                <a:ea typeface="Arial"/>
                <a:cs typeface="Arial"/>
                <a:sym typeface="Arial"/>
              </a:rPr>
              <a:t>미녀와 야수</a:t>
            </a:r>
            <a:endParaRPr sz="3000">
              <a:solidFill>
                <a:srgbClr val="658C6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15"/>
          <p:cNvSpPr txBox="1"/>
          <p:nvPr/>
        </p:nvSpPr>
        <p:spPr>
          <a:xfrm>
            <a:off x="10244274" y="3959301"/>
            <a:ext cx="4905931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000">
                <a:solidFill>
                  <a:srgbClr val="658C6A"/>
                </a:solidFill>
                <a:latin typeface="Arial"/>
                <a:ea typeface="Arial"/>
                <a:cs typeface="Arial"/>
                <a:sym typeface="Arial"/>
              </a:rPr>
              <a:t>ZOOZOO CLUB</a:t>
            </a:r>
            <a:endParaRPr sz="3000">
              <a:solidFill>
                <a:srgbClr val="658C6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A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3" name="Google Shape;203;p16"/>
          <p:cNvGrpSpPr/>
          <p:nvPr/>
        </p:nvGrpSpPr>
        <p:grpSpPr>
          <a:xfrm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id="204" name="Google Shape;204;p16"/>
            <p:cNvSpPr/>
            <p:nvPr/>
          </p:nvSpPr>
          <p:spPr>
            <a:xfrm>
              <a:off x="0" y="0"/>
              <a:ext cx="6982743" cy="6982743"/>
            </a:xfrm>
            <a:custGeom>
              <a:rect b="b" l="l" r="r" t="t"/>
              <a:pathLst>
                <a:path extrusionOk="0"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63000"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" name="Google Shape;205;p16"/>
            <p:cNvSpPr/>
            <p:nvPr/>
          </p:nvSpPr>
          <p:spPr>
            <a:xfrm>
              <a:off x="6955551" y="0"/>
              <a:ext cx="6982743" cy="6982743"/>
            </a:xfrm>
            <a:custGeom>
              <a:rect b="b" l="l" r="r" t="t"/>
              <a:pathLst>
                <a:path extrusionOk="0"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63000"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" name="Google Shape;206;p16"/>
            <p:cNvSpPr/>
            <p:nvPr/>
          </p:nvSpPr>
          <p:spPr>
            <a:xfrm>
              <a:off x="13883911" y="0"/>
              <a:ext cx="6982743" cy="6982743"/>
            </a:xfrm>
            <a:custGeom>
              <a:rect b="b" l="l" r="r" t="t"/>
              <a:pathLst>
                <a:path extrusionOk="0"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63000"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" name="Google Shape;207;p16"/>
            <p:cNvSpPr/>
            <p:nvPr/>
          </p:nvSpPr>
          <p:spPr>
            <a:xfrm>
              <a:off x="20812271" y="0"/>
              <a:ext cx="6982743" cy="6982743"/>
            </a:xfrm>
            <a:custGeom>
              <a:rect b="b" l="l" r="r" t="t"/>
              <a:pathLst>
                <a:path extrusionOk="0"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63000"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" name="Google Shape;208;p16"/>
            <p:cNvSpPr/>
            <p:nvPr/>
          </p:nvSpPr>
          <p:spPr>
            <a:xfrm>
              <a:off x="0" y="6958390"/>
              <a:ext cx="6982743" cy="6982743"/>
            </a:xfrm>
            <a:custGeom>
              <a:rect b="b" l="l" r="r" t="t"/>
              <a:pathLst>
                <a:path extrusionOk="0"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63000"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" name="Google Shape;209;p16"/>
            <p:cNvSpPr/>
            <p:nvPr/>
          </p:nvSpPr>
          <p:spPr>
            <a:xfrm>
              <a:off x="6955551" y="6958390"/>
              <a:ext cx="6982743" cy="6982743"/>
            </a:xfrm>
            <a:custGeom>
              <a:rect b="b" l="l" r="r" t="t"/>
              <a:pathLst>
                <a:path extrusionOk="0"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63000"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" name="Google Shape;210;p16"/>
            <p:cNvSpPr/>
            <p:nvPr/>
          </p:nvSpPr>
          <p:spPr>
            <a:xfrm>
              <a:off x="13883911" y="6958390"/>
              <a:ext cx="6982743" cy="6982743"/>
            </a:xfrm>
            <a:custGeom>
              <a:rect b="b" l="l" r="r" t="t"/>
              <a:pathLst>
                <a:path extrusionOk="0"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63000"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" name="Google Shape;211;p16"/>
            <p:cNvSpPr/>
            <p:nvPr/>
          </p:nvSpPr>
          <p:spPr>
            <a:xfrm>
              <a:off x="20812271" y="6958390"/>
              <a:ext cx="6982743" cy="6982743"/>
            </a:xfrm>
            <a:custGeom>
              <a:rect b="b" l="l" r="r" t="t"/>
              <a:pathLst>
                <a:path extrusionOk="0"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63000"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2" name="Google Shape;212;p16"/>
          <p:cNvGrpSpPr/>
          <p:nvPr/>
        </p:nvGrpSpPr>
        <p:grpSpPr>
          <a:xfrm>
            <a:off x="980630" y="657693"/>
            <a:ext cx="16326741" cy="8862722"/>
            <a:chOff x="0" y="-241102"/>
            <a:chExt cx="21768988" cy="11816963"/>
          </a:xfrm>
        </p:grpSpPr>
        <p:grpSp>
          <p:nvGrpSpPr>
            <p:cNvPr id="213" name="Google Shape;213;p16"/>
            <p:cNvGrpSpPr/>
            <p:nvPr/>
          </p:nvGrpSpPr>
          <p:grpSpPr>
            <a:xfrm>
              <a:off x="128188" y="-93892"/>
              <a:ext cx="21640800" cy="11669753"/>
              <a:chOff x="0" y="-47625"/>
              <a:chExt cx="4274726" cy="2305136"/>
            </a:xfrm>
          </p:grpSpPr>
          <p:sp>
            <p:nvSpPr>
              <p:cNvPr id="214" name="Google Shape;214;p16"/>
              <p:cNvSpPr/>
              <p:nvPr/>
            </p:nvSpPr>
            <p:spPr>
              <a:xfrm>
                <a:off x="0" y="0"/>
                <a:ext cx="4274726" cy="2257511"/>
              </a:xfrm>
              <a:custGeom>
                <a:rect b="b" l="l" r="r" t="t"/>
                <a:pathLst>
                  <a:path extrusionOk="0"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628566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5" name="Google Shape;215;p16"/>
              <p:cNvSpPr txBox="1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71055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6" name="Google Shape;216;p16"/>
            <p:cNvGrpSpPr/>
            <p:nvPr/>
          </p:nvGrpSpPr>
          <p:grpSpPr>
            <a:xfrm>
              <a:off x="0" y="-241102"/>
              <a:ext cx="21640800" cy="11669753"/>
              <a:chOff x="0" y="-47625"/>
              <a:chExt cx="4274726" cy="2305136"/>
            </a:xfrm>
          </p:grpSpPr>
          <p:sp>
            <p:nvSpPr>
              <p:cNvPr id="217" name="Google Shape;217;p16"/>
              <p:cNvSpPr/>
              <p:nvPr/>
            </p:nvSpPr>
            <p:spPr>
              <a:xfrm>
                <a:off x="0" y="0"/>
                <a:ext cx="4274726" cy="2257511"/>
              </a:xfrm>
              <a:custGeom>
                <a:rect b="b" l="l" r="r" t="t"/>
                <a:pathLst>
                  <a:path extrusionOk="0"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cap="sq" cmpd="sng" w="19050">
                <a:solidFill>
                  <a:srgbClr val="658C6A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8" name="Google Shape;218;p16"/>
              <p:cNvSpPr txBox="1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71055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19" name="Google Shape;219;p16"/>
          <p:cNvSpPr/>
          <p:nvPr/>
        </p:nvSpPr>
        <p:spPr>
          <a:xfrm>
            <a:off x="15720211" y="231437"/>
            <a:ext cx="1136863" cy="1168738"/>
          </a:xfrm>
          <a:custGeom>
            <a:rect b="b" l="l" r="r" t="t"/>
            <a:pathLst>
              <a:path extrusionOk="0"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6"/>
          <p:cNvSpPr txBox="1"/>
          <p:nvPr/>
        </p:nvSpPr>
        <p:spPr>
          <a:xfrm>
            <a:off x="4041627" y="1388861"/>
            <a:ext cx="7898846" cy="1211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6999">
                <a:solidFill>
                  <a:srgbClr val="485849"/>
                </a:solidFill>
                <a:latin typeface="Arial"/>
                <a:ea typeface="Arial"/>
                <a:cs typeface="Arial"/>
                <a:sym typeface="Arial"/>
              </a:rPr>
              <a:t>개발 배경</a:t>
            </a:r>
            <a:endParaRPr sz="6999">
              <a:solidFill>
                <a:srgbClr val="4858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16"/>
          <p:cNvSpPr txBox="1"/>
          <p:nvPr/>
        </p:nvSpPr>
        <p:spPr>
          <a:xfrm>
            <a:off x="1822669" y="989012"/>
            <a:ext cx="2048120" cy="1765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0350">
                <a:solidFill>
                  <a:srgbClr val="8CB791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cxnSp>
        <p:nvCxnSpPr>
          <p:cNvPr id="222" name="Google Shape;222;p16"/>
          <p:cNvCxnSpPr/>
          <p:nvPr/>
        </p:nvCxnSpPr>
        <p:spPr>
          <a:xfrm>
            <a:off x="980630" y="3841135"/>
            <a:ext cx="16278670" cy="0"/>
          </a:xfrm>
          <a:prstGeom prst="straightConnector1">
            <a:avLst/>
          </a:prstGeom>
          <a:noFill/>
          <a:ln cap="flat" cmpd="sng" w="19050">
            <a:solidFill>
              <a:srgbClr val="485849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23" name="Google Shape;223;p16"/>
          <p:cNvGrpSpPr/>
          <p:nvPr/>
        </p:nvGrpSpPr>
        <p:grpSpPr>
          <a:xfrm>
            <a:off x="3485113" y="3340829"/>
            <a:ext cx="1005073" cy="922626"/>
            <a:chOff x="0" y="-47625"/>
            <a:chExt cx="812800" cy="746125"/>
          </a:xfrm>
        </p:grpSpPr>
        <p:sp>
          <p:nvSpPr>
            <p:cNvPr id="224" name="Google Shape;224;p16"/>
            <p:cNvSpPr/>
            <p:nvPr/>
          </p:nvSpPr>
          <p:spPr>
            <a:xfrm>
              <a:off x="0" y="0"/>
              <a:ext cx="812800" cy="698500"/>
            </a:xfrm>
            <a:custGeom>
              <a:rect b="b" l="l" r="r" t="t"/>
              <a:pathLst>
                <a:path extrusionOk="0"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85B38B"/>
            </a:solidFill>
            <a:ln cap="sq" cmpd="sng" w="19050">
              <a:solidFill>
                <a:srgbClr val="485849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5" name="Google Shape;225;p16"/>
            <p:cNvSpPr txBox="1"/>
            <p:nvPr/>
          </p:nvSpPr>
          <p:spPr>
            <a:xfrm>
              <a:off x="114300" y="-47625"/>
              <a:ext cx="584200" cy="7461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1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2199">
                  <a:solidFill>
                    <a:srgbClr val="FAFFFA"/>
                  </a:solidFill>
                  <a:latin typeface="Arial"/>
                  <a:ea typeface="Arial"/>
                  <a:cs typeface="Arial"/>
                  <a:sym typeface="Arial"/>
                </a:rPr>
                <a:t>1차</a:t>
              </a:r>
              <a:endParaRPr/>
            </a:p>
          </p:txBody>
        </p:sp>
      </p:grpSp>
      <p:cxnSp>
        <p:nvCxnSpPr>
          <p:cNvPr id="226" name="Google Shape;226;p16"/>
          <p:cNvCxnSpPr/>
          <p:nvPr/>
        </p:nvCxnSpPr>
        <p:spPr>
          <a:xfrm rot="10800000">
            <a:off x="3987650" y="4263455"/>
            <a:ext cx="0" cy="1221211"/>
          </a:xfrm>
          <a:prstGeom prst="straightConnector1">
            <a:avLst/>
          </a:prstGeom>
          <a:noFill/>
          <a:ln cap="flat" cmpd="sng" w="28575">
            <a:solidFill>
              <a:srgbClr val="485849"/>
            </a:solidFill>
            <a:prstDash val="dot"/>
            <a:round/>
            <a:headEnd len="sm" w="sm" type="none"/>
            <a:tailEnd len="sm" w="sm" type="none"/>
          </a:ln>
        </p:spPr>
      </p:cxnSp>
      <p:grpSp>
        <p:nvGrpSpPr>
          <p:cNvPr id="227" name="Google Shape;227;p16"/>
          <p:cNvGrpSpPr/>
          <p:nvPr/>
        </p:nvGrpSpPr>
        <p:grpSpPr>
          <a:xfrm>
            <a:off x="2424919" y="4598960"/>
            <a:ext cx="2903178" cy="1918640"/>
            <a:chOff x="0" y="-57150"/>
            <a:chExt cx="762847" cy="504147"/>
          </a:xfrm>
        </p:grpSpPr>
        <p:sp>
          <p:nvSpPr>
            <p:cNvPr id="228" name="Google Shape;228;p16"/>
            <p:cNvSpPr/>
            <p:nvPr/>
          </p:nvSpPr>
          <p:spPr>
            <a:xfrm>
              <a:off x="0" y="0"/>
              <a:ext cx="762847" cy="446997"/>
            </a:xfrm>
            <a:custGeom>
              <a:rect b="b" l="l" r="r" t="t"/>
              <a:pathLst>
                <a:path extrusionOk="0" h="446997" w="762847">
                  <a:moveTo>
                    <a:pt x="32000" y="0"/>
                  </a:moveTo>
                  <a:lnTo>
                    <a:pt x="730847" y="0"/>
                  </a:lnTo>
                  <a:cubicBezTo>
                    <a:pt x="739334" y="0"/>
                    <a:pt x="747474" y="3371"/>
                    <a:pt x="753475" y="9373"/>
                  </a:cubicBezTo>
                  <a:cubicBezTo>
                    <a:pt x="759476" y="15374"/>
                    <a:pt x="762847" y="23513"/>
                    <a:pt x="762847" y="32000"/>
                  </a:cubicBezTo>
                  <a:lnTo>
                    <a:pt x="762847" y="414997"/>
                  </a:lnTo>
                  <a:cubicBezTo>
                    <a:pt x="762847" y="432670"/>
                    <a:pt x="748520" y="446997"/>
                    <a:pt x="730847" y="446997"/>
                  </a:cubicBezTo>
                  <a:lnTo>
                    <a:pt x="32000" y="446997"/>
                  </a:lnTo>
                  <a:cubicBezTo>
                    <a:pt x="23513" y="446997"/>
                    <a:pt x="15374" y="443626"/>
                    <a:pt x="9373" y="437625"/>
                  </a:cubicBezTo>
                  <a:cubicBezTo>
                    <a:pt x="3371" y="431623"/>
                    <a:pt x="0" y="423484"/>
                    <a:pt x="0" y="414997"/>
                  </a:cubicBezTo>
                  <a:lnTo>
                    <a:pt x="0" y="32000"/>
                  </a:lnTo>
                  <a:cubicBezTo>
                    <a:pt x="0" y="23513"/>
                    <a:pt x="3371" y="15374"/>
                    <a:pt x="9373" y="9373"/>
                  </a:cubicBezTo>
                  <a:cubicBezTo>
                    <a:pt x="15374" y="3371"/>
                    <a:pt x="23513" y="0"/>
                    <a:pt x="32000" y="0"/>
                  </a:cubicBezTo>
                  <a:close/>
                </a:path>
              </a:pathLst>
            </a:custGeom>
            <a:solidFill>
              <a:srgbClr val="E3F0E5"/>
            </a:solidFill>
            <a:ln cap="sq" cmpd="sng" w="19050">
              <a:solidFill>
                <a:srgbClr val="485849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9" name="Google Shape;229;p16"/>
            <p:cNvSpPr txBox="1"/>
            <p:nvPr/>
          </p:nvSpPr>
          <p:spPr>
            <a:xfrm>
              <a:off x="0" y="-57150"/>
              <a:ext cx="762847" cy="50414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2799">
                  <a:solidFill>
                    <a:srgbClr val="485849"/>
                  </a:solidFill>
                  <a:latin typeface="Arial"/>
                  <a:ea typeface="Arial"/>
                  <a:cs typeface="Arial"/>
                  <a:sym typeface="Arial"/>
                </a:rPr>
                <a:t>벤치마킹 사이트</a:t>
              </a:r>
              <a:br>
                <a:rPr lang="ko-KR" sz="2799">
                  <a:solidFill>
                    <a:srgbClr val="485849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ko-KR" sz="2799">
                  <a:solidFill>
                    <a:srgbClr val="485849"/>
                  </a:solidFill>
                  <a:latin typeface="Arial"/>
                  <a:ea typeface="Arial"/>
                  <a:cs typeface="Arial"/>
                  <a:sym typeface="Arial"/>
                </a:rPr>
                <a:t>조사</a:t>
              </a:r>
              <a:endParaRPr sz="2799">
                <a:solidFill>
                  <a:srgbClr val="48584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0" name="Google Shape;230;p16"/>
          <p:cNvGrpSpPr/>
          <p:nvPr/>
        </p:nvGrpSpPr>
        <p:grpSpPr>
          <a:xfrm>
            <a:off x="2427085" y="6475947"/>
            <a:ext cx="2903178" cy="2130986"/>
            <a:chOff x="0" y="-47625"/>
            <a:chExt cx="762847" cy="559944"/>
          </a:xfrm>
        </p:grpSpPr>
        <p:sp>
          <p:nvSpPr>
            <p:cNvPr id="231" name="Google Shape;231;p16"/>
            <p:cNvSpPr/>
            <p:nvPr/>
          </p:nvSpPr>
          <p:spPr>
            <a:xfrm>
              <a:off x="0" y="0"/>
              <a:ext cx="762847" cy="512319"/>
            </a:xfrm>
            <a:custGeom>
              <a:rect b="b" l="l" r="r" t="t"/>
              <a:pathLst>
                <a:path extrusionOk="0" h="512319" w="762847">
                  <a:moveTo>
                    <a:pt x="32000" y="0"/>
                  </a:moveTo>
                  <a:lnTo>
                    <a:pt x="730847" y="0"/>
                  </a:lnTo>
                  <a:cubicBezTo>
                    <a:pt x="739334" y="0"/>
                    <a:pt x="747474" y="3371"/>
                    <a:pt x="753475" y="9373"/>
                  </a:cubicBezTo>
                  <a:cubicBezTo>
                    <a:pt x="759476" y="15374"/>
                    <a:pt x="762847" y="23513"/>
                    <a:pt x="762847" y="32000"/>
                  </a:cubicBezTo>
                  <a:lnTo>
                    <a:pt x="762847" y="480319"/>
                  </a:lnTo>
                  <a:cubicBezTo>
                    <a:pt x="762847" y="488806"/>
                    <a:pt x="759476" y="496945"/>
                    <a:pt x="753475" y="502946"/>
                  </a:cubicBezTo>
                  <a:cubicBezTo>
                    <a:pt x="747474" y="508948"/>
                    <a:pt x="739334" y="512319"/>
                    <a:pt x="730847" y="512319"/>
                  </a:cubicBezTo>
                  <a:lnTo>
                    <a:pt x="32000" y="512319"/>
                  </a:lnTo>
                  <a:cubicBezTo>
                    <a:pt x="23513" y="512319"/>
                    <a:pt x="15374" y="508948"/>
                    <a:pt x="9373" y="502946"/>
                  </a:cubicBezTo>
                  <a:cubicBezTo>
                    <a:pt x="3371" y="496945"/>
                    <a:pt x="0" y="488806"/>
                    <a:pt x="0" y="480319"/>
                  </a:cubicBezTo>
                  <a:lnTo>
                    <a:pt x="0" y="32000"/>
                  </a:lnTo>
                  <a:cubicBezTo>
                    <a:pt x="0" y="23513"/>
                    <a:pt x="3371" y="15374"/>
                    <a:pt x="9373" y="9373"/>
                  </a:cubicBezTo>
                  <a:cubicBezTo>
                    <a:pt x="15374" y="3371"/>
                    <a:pt x="23513" y="0"/>
                    <a:pt x="32000" y="0"/>
                  </a:cubicBezTo>
                  <a:close/>
                </a:path>
              </a:pathLst>
            </a:custGeom>
            <a:solidFill>
              <a:srgbClr val="FFFFFF"/>
            </a:solidFill>
            <a:ln cap="sq" cmpd="sng" w="19050">
              <a:solidFill>
                <a:srgbClr val="485849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2" name="Google Shape;232;p16"/>
            <p:cNvSpPr txBox="1"/>
            <p:nvPr/>
          </p:nvSpPr>
          <p:spPr>
            <a:xfrm>
              <a:off x="0" y="-47625"/>
              <a:ext cx="762847" cy="5599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1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2199">
                  <a:solidFill>
                    <a:srgbClr val="485849"/>
                  </a:solidFill>
                  <a:latin typeface="Arial"/>
                  <a:ea typeface="Arial"/>
                  <a:cs typeface="Arial"/>
                  <a:sym typeface="Arial"/>
                </a:rPr>
                <a:t>동물과 관련된 사이트 조사</a:t>
              </a:r>
              <a:endParaRPr sz="2199">
                <a:solidFill>
                  <a:srgbClr val="48584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3" name="Google Shape;233;p16"/>
          <p:cNvGrpSpPr/>
          <p:nvPr/>
        </p:nvGrpSpPr>
        <p:grpSpPr>
          <a:xfrm>
            <a:off x="6985977" y="3340829"/>
            <a:ext cx="1005073" cy="922626"/>
            <a:chOff x="0" y="-47625"/>
            <a:chExt cx="812800" cy="746125"/>
          </a:xfrm>
        </p:grpSpPr>
        <p:sp>
          <p:nvSpPr>
            <p:cNvPr id="234" name="Google Shape;234;p16"/>
            <p:cNvSpPr/>
            <p:nvPr/>
          </p:nvSpPr>
          <p:spPr>
            <a:xfrm>
              <a:off x="0" y="0"/>
              <a:ext cx="812800" cy="698500"/>
            </a:xfrm>
            <a:custGeom>
              <a:rect b="b" l="l" r="r" t="t"/>
              <a:pathLst>
                <a:path extrusionOk="0"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A9B87D"/>
            </a:solidFill>
            <a:ln cap="sq" cmpd="sng" w="19050">
              <a:solidFill>
                <a:srgbClr val="485849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5" name="Google Shape;235;p16"/>
            <p:cNvSpPr txBox="1"/>
            <p:nvPr/>
          </p:nvSpPr>
          <p:spPr>
            <a:xfrm>
              <a:off x="114300" y="-47625"/>
              <a:ext cx="584200" cy="7461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1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2199">
                  <a:solidFill>
                    <a:srgbClr val="FFFFFA"/>
                  </a:solidFill>
                  <a:latin typeface="Arial"/>
                  <a:ea typeface="Arial"/>
                  <a:cs typeface="Arial"/>
                  <a:sym typeface="Arial"/>
                </a:rPr>
                <a:t>2차</a:t>
              </a:r>
              <a:endParaRPr/>
            </a:p>
          </p:txBody>
        </p:sp>
      </p:grpSp>
      <p:cxnSp>
        <p:nvCxnSpPr>
          <p:cNvPr id="236" name="Google Shape;236;p16"/>
          <p:cNvCxnSpPr/>
          <p:nvPr/>
        </p:nvCxnSpPr>
        <p:spPr>
          <a:xfrm rot="10800000">
            <a:off x="7524518" y="4263455"/>
            <a:ext cx="0" cy="1221211"/>
          </a:xfrm>
          <a:prstGeom prst="straightConnector1">
            <a:avLst/>
          </a:prstGeom>
          <a:noFill/>
          <a:ln cap="flat" cmpd="sng" w="28575">
            <a:solidFill>
              <a:srgbClr val="485849"/>
            </a:solidFill>
            <a:prstDash val="dot"/>
            <a:round/>
            <a:headEnd len="sm" w="sm" type="none"/>
            <a:tailEnd len="sm" w="sm" type="none"/>
          </a:ln>
        </p:spPr>
      </p:cxnSp>
      <p:grpSp>
        <p:nvGrpSpPr>
          <p:cNvPr id="237" name="Google Shape;237;p16"/>
          <p:cNvGrpSpPr/>
          <p:nvPr/>
        </p:nvGrpSpPr>
        <p:grpSpPr>
          <a:xfrm>
            <a:off x="6011712" y="4598960"/>
            <a:ext cx="2900030" cy="1918640"/>
            <a:chOff x="0" y="-57150"/>
            <a:chExt cx="762020" cy="504147"/>
          </a:xfrm>
        </p:grpSpPr>
        <p:sp>
          <p:nvSpPr>
            <p:cNvPr id="238" name="Google Shape;238;p16"/>
            <p:cNvSpPr/>
            <p:nvPr/>
          </p:nvSpPr>
          <p:spPr>
            <a:xfrm>
              <a:off x="0" y="0"/>
              <a:ext cx="762020" cy="446997"/>
            </a:xfrm>
            <a:custGeom>
              <a:rect b="b" l="l" r="r" t="t"/>
              <a:pathLst>
                <a:path extrusionOk="0" h="446997" w="762020">
                  <a:moveTo>
                    <a:pt x="32035" y="0"/>
                  </a:moveTo>
                  <a:lnTo>
                    <a:pt x="729985" y="0"/>
                  </a:lnTo>
                  <a:cubicBezTo>
                    <a:pt x="747678" y="0"/>
                    <a:pt x="762020" y="14343"/>
                    <a:pt x="762020" y="32035"/>
                  </a:cubicBezTo>
                  <a:lnTo>
                    <a:pt x="762020" y="414962"/>
                  </a:lnTo>
                  <a:cubicBezTo>
                    <a:pt x="762020" y="432655"/>
                    <a:pt x="747678" y="446997"/>
                    <a:pt x="729985" y="446997"/>
                  </a:cubicBezTo>
                  <a:lnTo>
                    <a:pt x="32035" y="446997"/>
                  </a:lnTo>
                  <a:cubicBezTo>
                    <a:pt x="14343" y="446997"/>
                    <a:pt x="0" y="432655"/>
                    <a:pt x="0" y="414962"/>
                  </a:cubicBezTo>
                  <a:lnTo>
                    <a:pt x="0" y="32035"/>
                  </a:lnTo>
                  <a:cubicBezTo>
                    <a:pt x="0" y="14343"/>
                    <a:pt x="14343" y="0"/>
                    <a:pt x="32035" y="0"/>
                  </a:cubicBezTo>
                  <a:close/>
                </a:path>
              </a:pathLst>
            </a:custGeom>
            <a:solidFill>
              <a:srgbClr val="E3F0E5"/>
            </a:solidFill>
            <a:ln cap="sq" cmpd="sng" w="19050">
              <a:solidFill>
                <a:srgbClr val="485849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" name="Google Shape;239;p16"/>
            <p:cNvSpPr txBox="1"/>
            <p:nvPr/>
          </p:nvSpPr>
          <p:spPr>
            <a:xfrm>
              <a:off x="0" y="-57150"/>
              <a:ext cx="762020" cy="50414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2799">
                  <a:solidFill>
                    <a:srgbClr val="485849"/>
                  </a:solidFill>
                  <a:latin typeface="Arial"/>
                  <a:ea typeface="Arial"/>
                  <a:cs typeface="Arial"/>
                  <a:sym typeface="Arial"/>
                </a:rPr>
                <a:t>벤치마킹 사이트 선정</a:t>
              </a:r>
              <a:endParaRPr sz="2799">
                <a:solidFill>
                  <a:srgbClr val="48584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0" name="Google Shape;240;p16"/>
          <p:cNvGrpSpPr/>
          <p:nvPr/>
        </p:nvGrpSpPr>
        <p:grpSpPr>
          <a:xfrm>
            <a:off x="6013876" y="6475947"/>
            <a:ext cx="2900030" cy="2130986"/>
            <a:chOff x="0" y="-47625"/>
            <a:chExt cx="762020" cy="559944"/>
          </a:xfrm>
        </p:grpSpPr>
        <p:sp>
          <p:nvSpPr>
            <p:cNvPr id="241" name="Google Shape;241;p16"/>
            <p:cNvSpPr/>
            <p:nvPr/>
          </p:nvSpPr>
          <p:spPr>
            <a:xfrm>
              <a:off x="0" y="0"/>
              <a:ext cx="762020" cy="512319"/>
            </a:xfrm>
            <a:custGeom>
              <a:rect b="b" l="l" r="r" t="t"/>
              <a:pathLst>
                <a:path extrusionOk="0" h="512319" w="762020">
                  <a:moveTo>
                    <a:pt x="32035" y="0"/>
                  </a:moveTo>
                  <a:lnTo>
                    <a:pt x="729985" y="0"/>
                  </a:lnTo>
                  <a:cubicBezTo>
                    <a:pt x="747678" y="0"/>
                    <a:pt x="762020" y="14343"/>
                    <a:pt x="762020" y="32035"/>
                  </a:cubicBezTo>
                  <a:lnTo>
                    <a:pt x="762020" y="480284"/>
                  </a:lnTo>
                  <a:cubicBezTo>
                    <a:pt x="762020" y="497977"/>
                    <a:pt x="747678" y="512319"/>
                    <a:pt x="729985" y="512319"/>
                  </a:cubicBezTo>
                  <a:lnTo>
                    <a:pt x="32035" y="512319"/>
                  </a:lnTo>
                  <a:cubicBezTo>
                    <a:pt x="14343" y="512319"/>
                    <a:pt x="0" y="497977"/>
                    <a:pt x="0" y="480284"/>
                  </a:cubicBezTo>
                  <a:lnTo>
                    <a:pt x="0" y="32035"/>
                  </a:lnTo>
                  <a:cubicBezTo>
                    <a:pt x="0" y="14343"/>
                    <a:pt x="14343" y="0"/>
                    <a:pt x="32035" y="0"/>
                  </a:cubicBezTo>
                  <a:close/>
                </a:path>
              </a:pathLst>
            </a:custGeom>
            <a:solidFill>
              <a:srgbClr val="FFFFFF"/>
            </a:solidFill>
            <a:ln cap="sq" cmpd="sng" w="19050">
              <a:solidFill>
                <a:srgbClr val="485849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2" name="Google Shape;242;p16"/>
            <p:cNvSpPr txBox="1"/>
            <p:nvPr/>
          </p:nvSpPr>
          <p:spPr>
            <a:xfrm>
              <a:off x="0" y="-47625"/>
              <a:ext cx="762020" cy="5599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1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2199">
                  <a:solidFill>
                    <a:srgbClr val="485849"/>
                  </a:solidFill>
                  <a:latin typeface="Arial"/>
                  <a:ea typeface="Arial"/>
                  <a:cs typeface="Arial"/>
                  <a:sym typeface="Arial"/>
                </a:rPr>
                <a:t>BEMYPET 사이트 선정</a:t>
              </a:r>
              <a:endParaRPr sz="2199">
                <a:solidFill>
                  <a:srgbClr val="48584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43" name="Google Shape;243;p16"/>
          <p:cNvCxnSpPr/>
          <p:nvPr/>
        </p:nvCxnSpPr>
        <p:spPr>
          <a:xfrm rot="10800000">
            <a:off x="11015046" y="4205852"/>
            <a:ext cx="0" cy="1221211"/>
          </a:xfrm>
          <a:prstGeom prst="straightConnector1">
            <a:avLst/>
          </a:prstGeom>
          <a:noFill/>
          <a:ln cap="flat" cmpd="sng" w="28575">
            <a:solidFill>
              <a:srgbClr val="485849"/>
            </a:solidFill>
            <a:prstDash val="dot"/>
            <a:round/>
            <a:headEnd len="sm" w="sm" type="none"/>
            <a:tailEnd len="sm" w="sm" type="none"/>
          </a:ln>
        </p:spPr>
      </p:cxnSp>
      <p:grpSp>
        <p:nvGrpSpPr>
          <p:cNvPr id="244" name="Google Shape;244;p16"/>
          <p:cNvGrpSpPr/>
          <p:nvPr/>
        </p:nvGrpSpPr>
        <p:grpSpPr>
          <a:xfrm>
            <a:off x="10486600" y="3340829"/>
            <a:ext cx="1005073" cy="922626"/>
            <a:chOff x="0" y="-47625"/>
            <a:chExt cx="812800" cy="746125"/>
          </a:xfrm>
        </p:grpSpPr>
        <p:sp>
          <p:nvSpPr>
            <p:cNvPr id="245" name="Google Shape;245;p16"/>
            <p:cNvSpPr/>
            <p:nvPr/>
          </p:nvSpPr>
          <p:spPr>
            <a:xfrm>
              <a:off x="0" y="0"/>
              <a:ext cx="812800" cy="698500"/>
            </a:xfrm>
            <a:custGeom>
              <a:rect b="b" l="l" r="r" t="t"/>
              <a:pathLst>
                <a:path extrusionOk="0"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85B38B"/>
            </a:solidFill>
            <a:ln cap="sq" cmpd="sng" w="19050">
              <a:solidFill>
                <a:srgbClr val="485849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6" name="Google Shape;246;p16"/>
            <p:cNvSpPr txBox="1"/>
            <p:nvPr/>
          </p:nvSpPr>
          <p:spPr>
            <a:xfrm>
              <a:off x="114300" y="-47625"/>
              <a:ext cx="584200" cy="7461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1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2199">
                  <a:solidFill>
                    <a:srgbClr val="FFFFFA"/>
                  </a:solidFill>
                  <a:latin typeface="Arial"/>
                  <a:ea typeface="Arial"/>
                  <a:cs typeface="Arial"/>
                  <a:sym typeface="Arial"/>
                </a:rPr>
                <a:t>3차</a:t>
              </a:r>
              <a:endParaRPr/>
            </a:p>
          </p:txBody>
        </p:sp>
      </p:grpSp>
      <p:grpSp>
        <p:nvGrpSpPr>
          <p:cNvPr id="247" name="Google Shape;247;p16"/>
          <p:cNvGrpSpPr/>
          <p:nvPr/>
        </p:nvGrpSpPr>
        <p:grpSpPr>
          <a:xfrm>
            <a:off x="9548580" y="4598960"/>
            <a:ext cx="2900030" cy="1918640"/>
            <a:chOff x="0" y="-57150"/>
            <a:chExt cx="762020" cy="504147"/>
          </a:xfrm>
        </p:grpSpPr>
        <p:sp>
          <p:nvSpPr>
            <p:cNvPr id="248" name="Google Shape;248;p16"/>
            <p:cNvSpPr/>
            <p:nvPr/>
          </p:nvSpPr>
          <p:spPr>
            <a:xfrm>
              <a:off x="0" y="0"/>
              <a:ext cx="762020" cy="446997"/>
            </a:xfrm>
            <a:custGeom>
              <a:rect b="b" l="l" r="r" t="t"/>
              <a:pathLst>
                <a:path extrusionOk="0" h="446997" w="762020">
                  <a:moveTo>
                    <a:pt x="32035" y="0"/>
                  </a:moveTo>
                  <a:lnTo>
                    <a:pt x="729985" y="0"/>
                  </a:lnTo>
                  <a:cubicBezTo>
                    <a:pt x="747678" y="0"/>
                    <a:pt x="762020" y="14343"/>
                    <a:pt x="762020" y="32035"/>
                  </a:cubicBezTo>
                  <a:lnTo>
                    <a:pt x="762020" y="414962"/>
                  </a:lnTo>
                  <a:cubicBezTo>
                    <a:pt x="762020" y="432655"/>
                    <a:pt x="747678" y="446997"/>
                    <a:pt x="729985" y="446997"/>
                  </a:cubicBezTo>
                  <a:lnTo>
                    <a:pt x="32035" y="446997"/>
                  </a:lnTo>
                  <a:cubicBezTo>
                    <a:pt x="14343" y="446997"/>
                    <a:pt x="0" y="432655"/>
                    <a:pt x="0" y="414962"/>
                  </a:cubicBezTo>
                  <a:lnTo>
                    <a:pt x="0" y="32035"/>
                  </a:lnTo>
                  <a:cubicBezTo>
                    <a:pt x="0" y="14343"/>
                    <a:pt x="14343" y="0"/>
                    <a:pt x="32035" y="0"/>
                  </a:cubicBezTo>
                  <a:close/>
                </a:path>
              </a:pathLst>
            </a:custGeom>
            <a:solidFill>
              <a:srgbClr val="E3F0E5"/>
            </a:solidFill>
            <a:ln cap="sq" cmpd="sng" w="19050">
              <a:solidFill>
                <a:srgbClr val="485849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9" name="Google Shape;249;p16"/>
            <p:cNvSpPr txBox="1"/>
            <p:nvPr/>
          </p:nvSpPr>
          <p:spPr>
            <a:xfrm>
              <a:off x="0" y="-57150"/>
              <a:ext cx="762020" cy="50414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2799">
                  <a:solidFill>
                    <a:srgbClr val="485849"/>
                  </a:solidFill>
                  <a:latin typeface="Arial"/>
                  <a:ea typeface="Arial"/>
                  <a:cs typeface="Arial"/>
                  <a:sym typeface="Arial"/>
                </a:rPr>
                <a:t>벤치마킹 사이트 분석</a:t>
              </a:r>
              <a:endParaRPr sz="2799">
                <a:solidFill>
                  <a:srgbClr val="48584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0" name="Google Shape;250;p16"/>
          <p:cNvGrpSpPr/>
          <p:nvPr/>
        </p:nvGrpSpPr>
        <p:grpSpPr>
          <a:xfrm>
            <a:off x="9550744" y="6475947"/>
            <a:ext cx="2900030" cy="2130986"/>
            <a:chOff x="0" y="-47625"/>
            <a:chExt cx="762020" cy="559944"/>
          </a:xfrm>
        </p:grpSpPr>
        <p:sp>
          <p:nvSpPr>
            <p:cNvPr id="251" name="Google Shape;251;p16"/>
            <p:cNvSpPr/>
            <p:nvPr/>
          </p:nvSpPr>
          <p:spPr>
            <a:xfrm>
              <a:off x="0" y="0"/>
              <a:ext cx="762020" cy="512319"/>
            </a:xfrm>
            <a:custGeom>
              <a:rect b="b" l="l" r="r" t="t"/>
              <a:pathLst>
                <a:path extrusionOk="0" h="512319" w="762020">
                  <a:moveTo>
                    <a:pt x="32035" y="0"/>
                  </a:moveTo>
                  <a:lnTo>
                    <a:pt x="729985" y="0"/>
                  </a:lnTo>
                  <a:cubicBezTo>
                    <a:pt x="747678" y="0"/>
                    <a:pt x="762020" y="14343"/>
                    <a:pt x="762020" y="32035"/>
                  </a:cubicBezTo>
                  <a:lnTo>
                    <a:pt x="762020" y="480284"/>
                  </a:lnTo>
                  <a:cubicBezTo>
                    <a:pt x="762020" y="497977"/>
                    <a:pt x="747678" y="512319"/>
                    <a:pt x="729985" y="512319"/>
                  </a:cubicBezTo>
                  <a:lnTo>
                    <a:pt x="32035" y="512319"/>
                  </a:lnTo>
                  <a:cubicBezTo>
                    <a:pt x="14343" y="512319"/>
                    <a:pt x="0" y="497977"/>
                    <a:pt x="0" y="480284"/>
                  </a:cubicBezTo>
                  <a:lnTo>
                    <a:pt x="0" y="32035"/>
                  </a:lnTo>
                  <a:cubicBezTo>
                    <a:pt x="0" y="14343"/>
                    <a:pt x="14343" y="0"/>
                    <a:pt x="32035" y="0"/>
                  </a:cubicBezTo>
                  <a:close/>
                </a:path>
              </a:pathLst>
            </a:custGeom>
            <a:solidFill>
              <a:srgbClr val="FFFFFF"/>
            </a:solidFill>
            <a:ln cap="sq" cmpd="sng" w="19050">
              <a:solidFill>
                <a:srgbClr val="485849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2" name="Google Shape;252;p16"/>
            <p:cNvSpPr txBox="1"/>
            <p:nvPr/>
          </p:nvSpPr>
          <p:spPr>
            <a:xfrm>
              <a:off x="0" y="-47625"/>
              <a:ext cx="762020" cy="5599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1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2199">
                  <a:solidFill>
                    <a:srgbClr val="485849"/>
                  </a:solidFill>
                  <a:latin typeface="Arial"/>
                  <a:ea typeface="Arial"/>
                  <a:cs typeface="Arial"/>
                  <a:sym typeface="Arial"/>
                </a:rPr>
                <a:t>사이트 내 대표 기능과 사이트 개설 의의 분석</a:t>
              </a:r>
              <a:endParaRPr sz="2199">
                <a:solidFill>
                  <a:srgbClr val="48584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3" name="Google Shape;253;p16"/>
          <p:cNvGrpSpPr/>
          <p:nvPr/>
        </p:nvGrpSpPr>
        <p:grpSpPr>
          <a:xfrm>
            <a:off x="14038590" y="3340829"/>
            <a:ext cx="1005073" cy="922626"/>
            <a:chOff x="0" y="-47625"/>
            <a:chExt cx="812800" cy="746125"/>
          </a:xfrm>
        </p:grpSpPr>
        <p:sp>
          <p:nvSpPr>
            <p:cNvPr id="254" name="Google Shape;254;p16"/>
            <p:cNvSpPr/>
            <p:nvPr/>
          </p:nvSpPr>
          <p:spPr>
            <a:xfrm>
              <a:off x="0" y="0"/>
              <a:ext cx="812800" cy="698500"/>
            </a:xfrm>
            <a:custGeom>
              <a:rect b="b" l="l" r="r" t="t"/>
              <a:pathLst>
                <a:path extrusionOk="0"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A9B87D"/>
            </a:solidFill>
            <a:ln cap="sq" cmpd="sng" w="19050">
              <a:solidFill>
                <a:srgbClr val="485849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" name="Google Shape;255;p16"/>
            <p:cNvSpPr txBox="1"/>
            <p:nvPr/>
          </p:nvSpPr>
          <p:spPr>
            <a:xfrm>
              <a:off x="114300" y="-47625"/>
              <a:ext cx="584200" cy="7461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1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2199">
                  <a:solidFill>
                    <a:srgbClr val="FFFFFA"/>
                  </a:solidFill>
                  <a:latin typeface="Arial"/>
                  <a:ea typeface="Arial"/>
                  <a:cs typeface="Arial"/>
                  <a:sym typeface="Arial"/>
                </a:rPr>
                <a:t>4차</a:t>
              </a:r>
              <a:endParaRPr/>
            </a:p>
          </p:txBody>
        </p:sp>
      </p:grpSp>
      <p:cxnSp>
        <p:nvCxnSpPr>
          <p:cNvPr id="256" name="Google Shape;256;p16"/>
          <p:cNvCxnSpPr/>
          <p:nvPr/>
        </p:nvCxnSpPr>
        <p:spPr>
          <a:xfrm rot="10800000">
            <a:off x="14541127" y="4263455"/>
            <a:ext cx="0" cy="1221211"/>
          </a:xfrm>
          <a:prstGeom prst="straightConnector1">
            <a:avLst/>
          </a:prstGeom>
          <a:noFill/>
          <a:ln cap="flat" cmpd="sng" w="28575">
            <a:solidFill>
              <a:srgbClr val="485849"/>
            </a:solidFill>
            <a:prstDash val="dot"/>
            <a:round/>
            <a:headEnd len="sm" w="sm" type="none"/>
            <a:tailEnd len="sm" w="sm" type="none"/>
          </a:ln>
        </p:spPr>
      </p:cxnSp>
      <p:grpSp>
        <p:nvGrpSpPr>
          <p:cNvPr id="257" name="Google Shape;257;p16"/>
          <p:cNvGrpSpPr/>
          <p:nvPr/>
        </p:nvGrpSpPr>
        <p:grpSpPr>
          <a:xfrm>
            <a:off x="13088949" y="4713554"/>
            <a:ext cx="2900030" cy="1918640"/>
            <a:chOff x="0" y="-27039"/>
            <a:chExt cx="762020" cy="504147"/>
          </a:xfrm>
        </p:grpSpPr>
        <p:sp>
          <p:nvSpPr>
            <p:cNvPr id="258" name="Google Shape;258;p16"/>
            <p:cNvSpPr/>
            <p:nvPr/>
          </p:nvSpPr>
          <p:spPr>
            <a:xfrm>
              <a:off x="0" y="0"/>
              <a:ext cx="762020" cy="446997"/>
            </a:xfrm>
            <a:custGeom>
              <a:rect b="b" l="l" r="r" t="t"/>
              <a:pathLst>
                <a:path extrusionOk="0" h="446997" w="762020">
                  <a:moveTo>
                    <a:pt x="32035" y="0"/>
                  </a:moveTo>
                  <a:lnTo>
                    <a:pt x="729985" y="0"/>
                  </a:lnTo>
                  <a:cubicBezTo>
                    <a:pt x="747678" y="0"/>
                    <a:pt x="762020" y="14343"/>
                    <a:pt x="762020" y="32035"/>
                  </a:cubicBezTo>
                  <a:lnTo>
                    <a:pt x="762020" y="414962"/>
                  </a:lnTo>
                  <a:cubicBezTo>
                    <a:pt x="762020" y="432655"/>
                    <a:pt x="747678" y="446997"/>
                    <a:pt x="729985" y="446997"/>
                  </a:cubicBezTo>
                  <a:lnTo>
                    <a:pt x="32035" y="446997"/>
                  </a:lnTo>
                  <a:cubicBezTo>
                    <a:pt x="14343" y="446997"/>
                    <a:pt x="0" y="432655"/>
                    <a:pt x="0" y="414962"/>
                  </a:cubicBezTo>
                  <a:lnTo>
                    <a:pt x="0" y="32035"/>
                  </a:lnTo>
                  <a:cubicBezTo>
                    <a:pt x="0" y="14343"/>
                    <a:pt x="14343" y="0"/>
                    <a:pt x="32035" y="0"/>
                  </a:cubicBezTo>
                  <a:close/>
                </a:path>
              </a:pathLst>
            </a:custGeom>
            <a:solidFill>
              <a:srgbClr val="E3F0E5"/>
            </a:solidFill>
            <a:ln cap="sq" cmpd="sng" w="19050">
              <a:solidFill>
                <a:srgbClr val="485849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" name="Google Shape;259;p16"/>
            <p:cNvSpPr txBox="1"/>
            <p:nvPr/>
          </p:nvSpPr>
          <p:spPr>
            <a:xfrm>
              <a:off x="0" y="-27039"/>
              <a:ext cx="762020" cy="50414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2799">
                  <a:solidFill>
                    <a:srgbClr val="485849"/>
                  </a:solidFill>
                  <a:latin typeface="Arial"/>
                  <a:ea typeface="Arial"/>
                  <a:cs typeface="Arial"/>
                  <a:sym typeface="Arial"/>
                </a:rPr>
                <a:t>벤치마킹 사이트와의 차별점</a:t>
              </a:r>
              <a:endParaRPr sz="2799">
                <a:solidFill>
                  <a:srgbClr val="48584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0" name="Google Shape;260;p16"/>
          <p:cNvGrpSpPr/>
          <p:nvPr/>
        </p:nvGrpSpPr>
        <p:grpSpPr>
          <a:xfrm>
            <a:off x="13091112" y="6475947"/>
            <a:ext cx="2900030" cy="2130986"/>
            <a:chOff x="0" y="-47625"/>
            <a:chExt cx="762020" cy="559944"/>
          </a:xfrm>
        </p:grpSpPr>
        <p:sp>
          <p:nvSpPr>
            <p:cNvPr id="261" name="Google Shape;261;p16"/>
            <p:cNvSpPr/>
            <p:nvPr/>
          </p:nvSpPr>
          <p:spPr>
            <a:xfrm>
              <a:off x="0" y="0"/>
              <a:ext cx="762020" cy="512319"/>
            </a:xfrm>
            <a:custGeom>
              <a:rect b="b" l="l" r="r" t="t"/>
              <a:pathLst>
                <a:path extrusionOk="0" h="512319" w="762020">
                  <a:moveTo>
                    <a:pt x="32035" y="0"/>
                  </a:moveTo>
                  <a:lnTo>
                    <a:pt x="729985" y="0"/>
                  </a:lnTo>
                  <a:cubicBezTo>
                    <a:pt x="747678" y="0"/>
                    <a:pt x="762020" y="14343"/>
                    <a:pt x="762020" y="32035"/>
                  </a:cubicBezTo>
                  <a:lnTo>
                    <a:pt x="762020" y="480284"/>
                  </a:lnTo>
                  <a:cubicBezTo>
                    <a:pt x="762020" y="497977"/>
                    <a:pt x="747678" y="512319"/>
                    <a:pt x="729985" y="512319"/>
                  </a:cubicBezTo>
                  <a:lnTo>
                    <a:pt x="32035" y="512319"/>
                  </a:lnTo>
                  <a:cubicBezTo>
                    <a:pt x="14343" y="512319"/>
                    <a:pt x="0" y="497977"/>
                    <a:pt x="0" y="480284"/>
                  </a:cubicBezTo>
                  <a:lnTo>
                    <a:pt x="0" y="32035"/>
                  </a:lnTo>
                  <a:cubicBezTo>
                    <a:pt x="0" y="14343"/>
                    <a:pt x="14343" y="0"/>
                    <a:pt x="32035" y="0"/>
                  </a:cubicBezTo>
                  <a:close/>
                </a:path>
              </a:pathLst>
            </a:custGeom>
            <a:solidFill>
              <a:srgbClr val="FFFFFF"/>
            </a:solidFill>
            <a:ln cap="sq" cmpd="sng" w="19050">
              <a:solidFill>
                <a:srgbClr val="485849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" name="Google Shape;262;p16"/>
            <p:cNvSpPr txBox="1"/>
            <p:nvPr/>
          </p:nvSpPr>
          <p:spPr>
            <a:xfrm>
              <a:off x="0" y="-47625"/>
              <a:ext cx="762020" cy="5599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1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2199">
                  <a:solidFill>
                    <a:srgbClr val="485849"/>
                  </a:solidFill>
                  <a:latin typeface="Arial"/>
                  <a:ea typeface="Arial"/>
                  <a:cs typeface="Arial"/>
                  <a:sym typeface="Arial"/>
                </a:rPr>
                <a:t>추가할 새 기능과 UI 회의 진행</a:t>
              </a:r>
              <a:endParaRPr sz="2199">
                <a:solidFill>
                  <a:srgbClr val="48584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A"/>
        </a:solid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7" name="Google Shape;267;p17"/>
          <p:cNvGrpSpPr/>
          <p:nvPr/>
        </p:nvGrpSpPr>
        <p:grpSpPr>
          <a:xfrm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id="268" name="Google Shape;268;p17"/>
            <p:cNvSpPr/>
            <p:nvPr/>
          </p:nvSpPr>
          <p:spPr>
            <a:xfrm>
              <a:off x="0" y="0"/>
              <a:ext cx="6982743" cy="6982743"/>
            </a:xfrm>
            <a:custGeom>
              <a:rect b="b" l="l" r="r" t="t"/>
              <a:pathLst>
                <a:path extrusionOk="0"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63000"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9" name="Google Shape;269;p17"/>
            <p:cNvSpPr/>
            <p:nvPr/>
          </p:nvSpPr>
          <p:spPr>
            <a:xfrm>
              <a:off x="6955551" y="0"/>
              <a:ext cx="6982743" cy="6982743"/>
            </a:xfrm>
            <a:custGeom>
              <a:rect b="b" l="l" r="r" t="t"/>
              <a:pathLst>
                <a:path extrusionOk="0"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63000"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0" name="Google Shape;270;p17"/>
            <p:cNvSpPr/>
            <p:nvPr/>
          </p:nvSpPr>
          <p:spPr>
            <a:xfrm>
              <a:off x="13883911" y="0"/>
              <a:ext cx="6982743" cy="6982743"/>
            </a:xfrm>
            <a:custGeom>
              <a:rect b="b" l="l" r="r" t="t"/>
              <a:pathLst>
                <a:path extrusionOk="0"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63000"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" name="Google Shape;271;p17"/>
            <p:cNvSpPr/>
            <p:nvPr/>
          </p:nvSpPr>
          <p:spPr>
            <a:xfrm>
              <a:off x="20812271" y="0"/>
              <a:ext cx="6982743" cy="6982743"/>
            </a:xfrm>
            <a:custGeom>
              <a:rect b="b" l="l" r="r" t="t"/>
              <a:pathLst>
                <a:path extrusionOk="0"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63000"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2" name="Google Shape;272;p17"/>
            <p:cNvSpPr/>
            <p:nvPr/>
          </p:nvSpPr>
          <p:spPr>
            <a:xfrm>
              <a:off x="0" y="6958390"/>
              <a:ext cx="6982743" cy="6982743"/>
            </a:xfrm>
            <a:custGeom>
              <a:rect b="b" l="l" r="r" t="t"/>
              <a:pathLst>
                <a:path extrusionOk="0"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63000"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3" name="Google Shape;273;p17"/>
            <p:cNvSpPr/>
            <p:nvPr/>
          </p:nvSpPr>
          <p:spPr>
            <a:xfrm>
              <a:off x="6955551" y="6958390"/>
              <a:ext cx="6982743" cy="6982743"/>
            </a:xfrm>
            <a:custGeom>
              <a:rect b="b" l="l" r="r" t="t"/>
              <a:pathLst>
                <a:path extrusionOk="0"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63000"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" name="Google Shape;274;p17"/>
            <p:cNvSpPr/>
            <p:nvPr/>
          </p:nvSpPr>
          <p:spPr>
            <a:xfrm>
              <a:off x="13883911" y="6958390"/>
              <a:ext cx="6982743" cy="6982743"/>
            </a:xfrm>
            <a:custGeom>
              <a:rect b="b" l="l" r="r" t="t"/>
              <a:pathLst>
                <a:path extrusionOk="0"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63000"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5" name="Google Shape;275;p17"/>
            <p:cNvSpPr/>
            <p:nvPr/>
          </p:nvSpPr>
          <p:spPr>
            <a:xfrm>
              <a:off x="20812271" y="6958390"/>
              <a:ext cx="6982743" cy="6982743"/>
            </a:xfrm>
            <a:custGeom>
              <a:rect b="b" l="l" r="r" t="t"/>
              <a:pathLst>
                <a:path extrusionOk="0"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63000"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6" name="Google Shape;276;p17"/>
          <p:cNvGrpSpPr/>
          <p:nvPr/>
        </p:nvGrpSpPr>
        <p:grpSpPr>
          <a:xfrm>
            <a:off x="980630" y="657693"/>
            <a:ext cx="16326741" cy="8862722"/>
            <a:chOff x="0" y="-241102"/>
            <a:chExt cx="21768988" cy="11816963"/>
          </a:xfrm>
        </p:grpSpPr>
        <p:grpSp>
          <p:nvGrpSpPr>
            <p:cNvPr id="277" name="Google Shape;277;p17"/>
            <p:cNvGrpSpPr/>
            <p:nvPr/>
          </p:nvGrpSpPr>
          <p:grpSpPr>
            <a:xfrm>
              <a:off x="128188" y="-93892"/>
              <a:ext cx="21640800" cy="11669753"/>
              <a:chOff x="0" y="-47625"/>
              <a:chExt cx="4274726" cy="2305136"/>
            </a:xfrm>
          </p:grpSpPr>
          <p:sp>
            <p:nvSpPr>
              <p:cNvPr id="278" name="Google Shape;278;p17"/>
              <p:cNvSpPr/>
              <p:nvPr/>
            </p:nvSpPr>
            <p:spPr>
              <a:xfrm>
                <a:off x="0" y="0"/>
                <a:ext cx="4274726" cy="2257511"/>
              </a:xfrm>
              <a:custGeom>
                <a:rect b="b" l="l" r="r" t="t"/>
                <a:pathLst>
                  <a:path extrusionOk="0"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628566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9" name="Google Shape;279;p17"/>
              <p:cNvSpPr txBox="1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71055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80" name="Google Shape;280;p17"/>
            <p:cNvGrpSpPr/>
            <p:nvPr/>
          </p:nvGrpSpPr>
          <p:grpSpPr>
            <a:xfrm>
              <a:off x="0" y="-241102"/>
              <a:ext cx="21640800" cy="11669753"/>
              <a:chOff x="0" y="-47625"/>
              <a:chExt cx="4274726" cy="2305136"/>
            </a:xfrm>
          </p:grpSpPr>
          <p:sp>
            <p:nvSpPr>
              <p:cNvPr id="281" name="Google Shape;281;p17"/>
              <p:cNvSpPr/>
              <p:nvPr/>
            </p:nvSpPr>
            <p:spPr>
              <a:xfrm>
                <a:off x="0" y="0"/>
                <a:ext cx="4274726" cy="2257511"/>
              </a:xfrm>
              <a:custGeom>
                <a:rect b="b" l="l" r="r" t="t"/>
                <a:pathLst>
                  <a:path extrusionOk="0"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cap="sq" cmpd="sng" w="19050">
                <a:solidFill>
                  <a:srgbClr val="658C6A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2" name="Google Shape;282;p17"/>
              <p:cNvSpPr txBox="1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71055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83" name="Google Shape;283;p17"/>
          <p:cNvSpPr/>
          <p:nvPr/>
        </p:nvSpPr>
        <p:spPr>
          <a:xfrm>
            <a:off x="15720211" y="231437"/>
            <a:ext cx="1136863" cy="1168738"/>
          </a:xfrm>
          <a:custGeom>
            <a:rect b="b" l="l" r="r" t="t"/>
            <a:pathLst>
              <a:path extrusionOk="0"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7"/>
          <p:cNvSpPr txBox="1"/>
          <p:nvPr/>
        </p:nvSpPr>
        <p:spPr>
          <a:xfrm>
            <a:off x="4041627" y="1388861"/>
            <a:ext cx="7898846" cy="1211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6999">
                <a:solidFill>
                  <a:srgbClr val="485849"/>
                </a:solidFill>
                <a:latin typeface="Arial"/>
                <a:ea typeface="Arial"/>
                <a:cs typeface="Arial"/>
                <a:sym typeface="Arial"/>
              </a:rPr>
              <a:t>개발 배경</a:t>
            </a:r>
            <a:endParaRPr sz="6999">
              <a:solidFill>
                <a:srgbClr val="4858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17"/>
          <p:cNvSpPr txBox="1"/>
          <p:nvPr/>
        </p:nvSpPr>
        <p:spPr>
          <a:xfrm>
            <a:off x="1822669" y="989012"/>
            <a:ext cx="2048120" cy="1765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0350">
                <a:solidFill>
                  <a:srgbClr val="8CB791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286" name="Google Shape;286;p17"/>
          <p:cNvSpPr txBox="1"/>
          <p:nvPr/>
        </p:nvSpPr>
        <p:spPr>
          <a:xfrm>
            <a:off x="1827848" y="2555783"/>
            <a:ext cx="15815928" cy="10964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4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4000">
                <a:solidFill>
                  <a:srgbClr val="485849"/>
                </a:solidFill>
                <a:latin typeface="Arial"/>
                <a:ea typeface="Arial"/>
                <a:cs typeface="Arial"/>
                <a:sym typeface="Arial"/>
              </a:rPr>
              <a:t>반려동물 인구 증가에 따른 정보 수요 증가</a:t>
            </a:r>
            <a:endParaRPr sz="4000">
              <a:solidFill>
                <a:srgbClr val="4858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7" name="Google Shape;287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86923" y="4258732"/>
            <a:ext cx="5870999" cy="432490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17"/>
          <p:cNvSpPr txBox="1"/>
          <p:nvPr/>
        </p:nvSpPr>
        <p:spPr>
          <a:xfrm>
            <a:off x="8305800" y="4912854"/>
            <a:ext cx="8686800" cy="3046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최근 통계에 따르면 반려동물을 양육하는 가구의 비율이 크게 증가하고 있습니다.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이에 따라 반려동물 관련 정보와 상품에 대한 수요도 함께 늘어나고 있으며, 양질의 콘텐츠와 서비스를 제공하는 웹사이트의 필요성이 더욱 커지고 있습니다.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이러한 시장의 흐름을 반영해, 사용자들의 다양한 요구를 충족할 수 있는 웹사이트를 기획하게 되었으며, 그 과정에서 우수한 기능과 구성을 갖춘 기존 사이트들을 벤치마킹하게 되었습니다.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7"/>
          <p:cNvSpPr txBox="1"/>
          <p:nvPr/>
        </p:nvSpPr>
        <p:spPr>
          <a:xfrm>
            <a:off x="2351780" y="8764458"/>
            <a:ext cx="48575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https://www.dailyvet.co.kr/news/policy/234742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A"/>
        </a:solidFill>
      </p:bgPr>
    </p:bg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4" name="Google Shape;294;p18"/>
          <p:cNvGrpSpPr/>
          <p:nvPr/>
        </p:nvGrpSpPr>
        <p:grpSpPr>
          <a:xfrm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id="295" name="Google Shape;295;p18"/>
            <p:cNvSpPr/>
            <p:nvPr/>
          </p:nvSpPr>
          <p:spPr>
            <a:xfrm>
              <a:off x="0" y="0"/>
              <a:ext cx="6982743" cy="6982743"/>
            </a:xfrm>
            <a:custGeom>
              <a:rect b="b" l="l" r="r" t="t"/>
              <a:pathLst>
                <a:path extrusionOk="0"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63000"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6" name="Google Shape;296;p18"/>
            <p:cNvSpPr/>
            <p:nvPr/>
          </p:nvSpPr>
          <p:spPr>
            <a:xfrm>
              <a:off x="6955551" y="0"/>
              <a:ext cx="6982743" cy="6982743"/>
            </a:xfrm>
            <a:custGeom>
              <a:rect b="b" l="l" r="r" t="t"/>
              <a:pathLst>
                <a:path extrusionOk="0"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63000"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7" name="Google Shape;297;p18"/>
            <p:cNvSpPr/>
            <p:nvPr/>
          </p:nvSpPr>
          <p:spPr>
            <a:xfrm>
              <a:off x="13883911" y="0"/>
              <a:ext cx="6982743" cy="6982743"/>
            </a:xfrm>
            <a:custGeom>
              <a:rect b="b" l="l" r="r" t="t"/>
              <a:pathLst>
                <a:path extrusionOk="0"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63000"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8" name="Google Shape;298;p18"/>
            <p:cNvSpPr/>
            <p:nvPr/>
          </p:nvSpPr>
          <p:spPr>
            <a:xfrm>
              <a:off x="20812271" y="0"/>
              <a:ext cx="6982743" cy="6982743"/>
            </a:xfrm>
            <a:custGeom>
              <a:rect b="b" l="l" r="r" t="t"/>
              <a:pathLst>
                <a:path extrusionOk="0"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63000"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9" name="Google Shape;299;p18"/>
            <p:cNvSpPr/>
            <p:nvPr/>
          </p:nvSpPr>
          <p:spPr>
            <a:xfrm>
              <a:off x="0" y="6958390"/>
              <a:ext cx="6982743" cy="6982743"/>
            </a:xfrm>
            <a:custGeom>
              <a:rect b="b" l="l" r="r" t="t"/>
              <a:pathLst>
                <a:path extrusionOk="0"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63000"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0" name="Google Shape;300;p18"/>
            <p:cNvSpPr/>
            <p:nvPr/>
          </p:nvSpPr>
          <p:spPr>
            <a:xfrm>
              <a:off x="6955551" y="6958390"/>
              <a:ext cx="6982743" cy="6982743"/>
            </a:xfrm>
            <a:custGeom>
              <a:rect b="b" l="l" r="r" t="t"/>
              <a:pathLst>
                <a:path extrusionOk="0"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63000"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1" name="Google Shape;301;p18"/>
            <p:cNvSpPr/>
            <p:nvPr/>
          </p:nvSpPr>
          <p:spPr>
            <a:xfrm>
              <a:off x="13883911" y="6958390"/>
              <a:ext cx="6982743" cy="6982743"/>
            </a:xfrm>
            <a:custGeom>
              <a:rect b="b" l="l" r="r" t="t"/>
              <a:pathLst>
                <a:path extrusionOk="0"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63000"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2" name="Google Shape;302;p18"/>
            <p:cNvSpPr/>
            <p:nvPr/>
          </p:nvSpPr>
          <p:spPr>
            <a:xfrm>
              <a:off x="20812271" y="6958390"/>
              <a:ext cx="6982743" cy="6982743"/>
            </a:xfrm>
            <a:custGeom>
              <a:rect b="b" l="l" r="r" t="t"/>
              <a:pathLst>
                <a:path extrusionOk="0"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63000"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3" name="Google Shape;303;p18"/>
          <p:cNvGrpSpPr/>
          <p:nvPr/>
        </p:nvGrpSpPr>
        <p:grpSpPr>
          <a:xfrm>
            <a:off x="980630" y="657693"/>
            <a:ext cx="16326741" cy="8862722"/>
            <a:chOff x="0" y="-241102"/>
            <a:chExt cx="21768988" cy="11816963"/>
          </a:xfrm>
        </p:grpSpPr>
        <p:grpSp>
          <p:nvGrpSpPr>
            <p:cNvPr id="304" name="Google Shape;304;p18"/>
            <p:cNvGrpSpPr/>
            <p:nvPr/>
          </p:nvGrpSpPr>
          <p:grpSpPr>
            <a:xfrm>
              <a:off x="128188" y="-93892"/>
              <a:ext cx="21640800" cy="11669753"/>
              <a:chOff x="0" y="-47625"/>
              <a:chExt cx="4274726" cy="2305136"/>
            </a:xfrm>
          </p:grpSpPr>
          <p:sp>
            <p:nvSpPr>
              <p:cNvPr id="305" name="Google Shape;305;p18"/>
              <p:cNvSpPr/>
              <p:nvPr/>
            </p:nvSpPr>
            <p:spPr>
              <a:xfrm>
                <a:off x="0" y="0"/>
                <a:ext cx="4274726" cy="2257511"/>
              </a:xfrm>
              <a:custGeom>
                <a:rect b="b" l="l" r="r" t="t"/>
                <a:pathLst>
                  <a:path extrusionOk="0"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628566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6" name="Google Shape;306;p18"/>
              <p:cNvSpPr txBox="1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71055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07" name="Google Shape;307;p18"/>
            <p:cNvGrpSpPr/>
            <p:nvPr/>
          </p:nvGrpSpPr>
          <p:grpSpPr>
            <a:xfrm>
              <a:off x="0" y="-241102"/>
              <a:ext cx="21640800" cy="11669753"/>
              <a:chOff x="0" y="-47625"/>
              <a:chExt cx="4274726" cy="2305136"/>
            </a:xfrm>
          </p:grpSpPr>
          <p:sp>
            <p:nvSpPr>
              <p:cNvPr id="308" name="Google Shape;308;p18"/>
              <p:cNvSpPr/>
              <p:nvPr/>
            </p:nvSpPr>
            <p:spPr>
              <a:xfrm>
                <a:off x="0" y="0"/>
                <a:ext cx="4274726" cy="2257511"/>
              </a:xfrm>
              <a:custGeom>
                <a:rect b="b" l="l" r="r" t="t"/>
                <a:pathLst>
                  <a:path extrusionOk="0"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cap="sq" cmpd="sng" w="19050">
                <a:solidFill>
                  <a:srgbClr val="658C6A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9" name="Google Shape;309;p18"/>
              <p:cNvSpPr txBox="1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71055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10" name="Google Shape;310;p18"/>
          <p:cNvSpPr/>
          <p:nvPr/>
        </p:nvSpPr>
        <p:spPr>
          <a:xfrm>
            <a:off x="15720211" y="231437"/>
            <a:ext cx="1136863" cy="1168738"/>
          </a:xfrm>
          <a:custGeom>
            <a:rect b="b" l="l" r="r" t="t"/>
            <a:pathLst>
              <a:path extrusionOk="0"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8"/>
          <p:cNvSpPr txBox="1"/>
          <p:nvPr/>
        </p:nvSpPr>
        <p:spPr>
          <a:xfrm>
            <a:off x="4041627" y="1388861"/>
            <a:ext cx="7898846" cy="1211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6999">
                <a:solidFill>
                  <a:srgbClr val="485849"/>
                </a:solidFill>
                <a:latin typeface="Arial"/>
                <a:ea typeface="Arial"/>
                <a:cs typeface="Arial"/>
                <a:sym typeface="Arial"/>
              </a:rPr>
              <a:t>개발 배경</a:t>
            </a:r>
            <a:endParaRPr sz="6999">
              <a:solidFill>
                <a:srgbClr val="4858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18"/>
          <p:cNvSpPr txBox="1"/>
          <p:nvPr/>
        </p:nvSpPr>
        <p:spPr>
          <a:xfrm>
            <a:off x="1822669" y="989012"/>
            <a:ext cx="2048120" cy="1765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0350">
                <a:solidFill>
                  <a:srgbClr val="8CB791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313" name="Google Shape;313;p18"/>
          <p:cNvSpPr txBox="1"/>
          <p:nvPr/>
        </p:nvSpPr>
        <p:spPr>
          <a:xfrm>
            <a:off x="1822669" y="2534805"/>
            <a:ext cx="15815928" cy="10964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4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4000">
                <a:solidFill>
                  <a:srgbClr val="485849"/>
                </a:solidFill>
                <a:latin typeface="Arial"/>
                <a:ea typeface="Arial"/>
                <a:cs typeface="Arial"/>
                <a:sym typeface="Arial"/>
              </a:rPr>
              <a:t>정보의 파편화 해소</a:t>
            </a:r>
            <a:endParaRPr sz="4000">
              <a:solidFill>
                <a:srgbClr val="4858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18"/>
          <p:cNvSpPr txBox="1"/>
          <p:nvPr/>
        </p:nvSpPr>
        <p:spPr>
          <a:xfrm>
            <a:off x="8102323" y="7003915"/>
            <a:ext cx="8991600" cy="1631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현재 반려동물 관련 정보를 웹페이지에서 체계적으로 찾기란 쉽지 않으며, 대부분의 정보는 네이버 카페나 기타 커뮤니티 사이트에 단편적으로 게시되어 있는 경우가 많습니다. 이러한 불편함을 해소하기 위해, 반려동물에 관한 이야기만을 집중적으로 나눌 수 있는 전용 게시판이 구성된 웹사이트를 벤치마킹하게 되었습니다.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5" name="Google Shape;315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70816" y="1288465"/>
            <a:ext cx="5093349" cy="5459302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68519" y="4057515"/>
            <a:ext cx="6716049" cy="3447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A"/>
        </a:solidFill>
      </p:bgPr>
    </p:bg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1" name="Google Shape;321;p19"/>
          <p:cNvGrpSpPr/>
          <p:nvPr/>
        </p:nvGrpSpPr>
        <p:grpSpPr>
          <a:xfrm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id="322" name="Google Shape;322;p19"/>
            <p:cNvSpPr/>
            <p:nvPr/>
          </p:nvSpPr>
          <p:spPr>
            <a:xfrm>
              <a:off x="0" y="0"/>
              <a:ext cx="6982743" cy="6982743"/>
            </a:xfrm>
            <a:custGeom>
              <a:rect b="b" l="l" r="r" t="t"/>
              <a:pathLst>
                <a:path extrusionOk="0"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63000"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3" name="Google Shape;323;p19"/>
            <p:cNvSpPr/>
            <p:nvPr/>
          </p:nvSpPr>
          <p:spPr>
            <a:xfrm>
              <a:off x="6955551" y="0"/>
              <a:ext cx="6982743" cy="6982743"/>
            </a:xfrm>
            <a:custGeom>
              <a:rect b="b" l="l" r="r" t="t"/>
              <a:pathLst>
                <a:path extrusionOk="0"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63000"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4" name="Google Shape;324;p19"/>
            <p:cNvSpPr/>
            <p:nvPr/>
          </p:nvSpPr>
          <p:spPr>
            <a:xfrm>
              <a:off x="13883911" y="0"/>
              <a:ext cx="6982743" cy="6982743"/>
            </a:xfrm>
            <a:custGeom>
              <a:rect b="b" l="l" r="r" t="t"/>
              <a:pathLst>
                <a:path extrusionOk="0"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63000"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5" name="Google Shape;325;p19"/>
            <p:cNvSpPr/>
            <p:nvPr/>
          </p:nvSpPr>
          <p:spPr>
            <a:xfrm>
              <a:off x="20812271" y="0"/>
              <a:ext cx="6982743" cy="6982743"/>
            </a:xfrm>
            <a:custGeom>
              <a:rect b="b" l="l" r="r" t="t"/>
              <a:pathLst>
                <a:path extrusionOk="0"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63000"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6" name="Google Shape;326;p19"/>
            <p:cNvSpPr/>
            <p:nvPr/>
          </p:nvSpPr>
          <p:spPr>
            <a:xfrm>
              <a:off x="0" y="6958390"/>
              <a:ext cx="6982743" cy="6982743"/>
            </a:xfrm>
            <a:custGeom>
              <a:rect b="b" l="l" r="r" t="t"/>
              <a:pathLst>
                <a:path extrusionOk="0"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63000"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7" name="Google Shape;327;p19"/>
            <p:cNvSpPr/>
            <p:nvPr/>
          </p:nvSpPr>
          <p:spPr>
            <a:xfrm>
              <a:off x="6955551" y="6958390"/>
              <a:ext cx="6982743" cy="6982743"/>
            </a:xfrm>
            <a:custGeom>
              <a:rect b="b" l="l" r="r" t="t"/>
              <a:pathLst>
                <a:path extrusionOk="0"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63000"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8" name="Google Shape;328;p19"/>
            <p:cNvSpPr/>
            <p:nvPr/>
          </p:nvSpPr>
          <p:spPr>
            <a:xfrm>
              <a:off x="13883911" y="6958390"/>
              <a:ext cx="6982743" cy="6982743"/>
            </a:xfrm>
            <a:custGeom>
              <a:rect b="b" l="l" r="r" t="t"/>
              <a:pathLst>
                <a:path extrusionOk="0"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63000"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9" name="Google Shape;329;p19"/>
            <p:cNvSpPr/>
            <p:nvPr/>
          </p:nvSpPr>
          <p:spPr>
            <a:xfrm>
              <a:off x="20812271" y="6958390"/>
              <a:ext cx="6982743" cy="6982743"/>
            </a:xfrm>
            <a:custGeom>
              <a:rect b="b" l="l" r="r" t="t"/>
              <a:pathLst>
                <a:path extrusionOk="0"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63000"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0" name="Google Shape;330;p19"/>
          <p:cNvGrpSpPr/>
          <p:nvPr/>
        </p:nvGrpSpPr>
        <p:grpSpPr>
          <a:xfrm>
            <a:off x="980630" y="657693"/>
            <a:ext cx="16326741" cy="8862722"/>
            <a:chOff x="0" y="-241102"/>
            <a:chExt cx="21768988" cy="11816963"/>
          </a:xfrm>
        </p:grpSpPr>
        <p:grpSp>
          <p:nvGrpSpPr>
            <p:cNvPr id="331" name="Google Shape;331;p19"/>
            <p:cNvGrpSpPr/>
            <p:nvPr/>
          </p:nvGrpSpPr>
          <p:grpSpPr>
            <a:xfrm>
              <a:off x="128188" y="-93892"/>
              <a:ext cx="21640800" cy="11669753"/>
              <a:chOff x="0" y="-47625"/>
              <a:chExt cx="4274726" cy="2305136"/>
            </a:xfrm>
          </p:grpSpPr>
          <p:sp>
            <p:nvSpPr>
              <p:cNvPr id="332" name="Google Shape;332;p19"/>
              <p:cNvSpPr/>
              <p:nvPr/>
            </p:nvSpPr>
            <p:spPr>
              <a:xfrm>
                <a:off x="0" y="0"/>
                <a:ext cx="4274726" cy="2257511"/>
              </a:xfrm>
              <a:custGeom>
                <a:rect b="b" l="l" r="r" t="t"/>
                <a:pathLst>
                  <a:path extrusionOk="0"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628566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3" name="Google Shape;333;p19"/>
              <p:cNvSpPr txBox="1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71055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34" name="Google Shape;334;p19"/>
            <p:cNvGrpSpPr/>
            <p:nvPr/>
          </p:nvGrpSpPr>
          <p:grpSpPr>
            <a:xfrm>
              <a:off x="0" y="-241102"/>
              <a:ext cx="21640800" cy="11669753"/>
              <a:chOff x="0" y="-47625"/>
              <a:chExt cx="4274726" cy="2305136"/>
            </a:xfrm>
          </p:grpSpPr>
          <p:sp>
            <p:nvSpPr>
              <p:cNvPr id="335" name="Google Shape;335;p19"/>
              <p:cNvSpPr/>
              <p:nvPr/>
            </p:nvSpPr>
            <p:spPr>
              <a:xfrm>
                <a:off x="0" y="0"/>
                <a:ext cx="4274726" cy="2257511"/>
              </a:xfrm>
              <a:custGeom>
                <a:rect b="b" l="l" r="r" t="t"/>
                <a:pathLst>
                  <a:path extrusionOk="0"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cap="sq" cmpd="sng" w="19050">
                <a:solidFill>
                  <a:srgbClr val="658C6A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6" name="Google Shape;336;p19"/>
              <p:cNvSpPr txBox="1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71055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37" name="Google Shape;337;p19"/>
          <p:cNvSpPr/>
          <p:nvPr/>
        </p:nvSpPr>
        <p:spPr>
          <a:xfrm>
            <a:off x="15720211" y="231437"/>
            <a:ext cx="1136863" cy="1168738"/>
          </a:xfrm>
          <a:custGeom>
            <a:rect b="b" l="l" r="r" t="t"/>
            <a:pathLst>
              <a:path extrusionOk="0"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9"/>
          <p:cNvSpPr txBox="1"/>
          <p:nvPr/>
        </p:nvSpPr>
        <p:spPr>
          <a:xfrm>
            <a:off x="4041627" y="1388861"/>
            <a:ext cx="7898846" cy="1211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6999">
                <a:solidFill>
                  <a:srgbClr val="485849"/>
                </a:solidFill>
                <a:latin typeface="Arial"/>
                <a:ea typeface="Arial"/>
                <a:cs typeface="Arial"/>
                <a:sym typeface="Arial"/>
              </a:rPr>
              <a:t>개발 배경</a:t>
            </a:r>
            <a:endParaRPr sz="6999">
              <a:solidFill>
                <a:srgbClr val="4858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19"/>
          <p:cNvSpPr txBox="1"/>
          <p:nvPr/>
        </p:nvSpPr>
        <p:spPr>
          <a:xfrm>
            <a:off x="1822669" y="989012"/>
            <a:ext cx="2048120" cy="1765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0350">
                <a:solidFill>
                  <a:srgbClr val="8CB791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pic>
        <p:nvPicPr>
          <p:cNvPr id="340" name="Google Shape;340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13340" y="2896290"/>
            <a:ext cx="7867613" cy="6019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A"/>
        </a:solidFill>
      </p:bgPr>
    </p:bg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5" name="Google Shape;345;p20"/>
          <p:cNvGrpSpPr/>
          <p:nvPr/>
        </p:nvGrpSpPr>
        <p:grpSpPr>
          <a:xfrm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id="346" name="Google Shape;346;p20"/>
            <p:cNvSpPr/>
            <p:nvPr/>
          </p:nvSpPr>
          <p:spPr>
            <a:xfrm>
              <a:off x="0" y="0"/>
              <a:ext cx="6982743" cy="6982743"/>
            </a:xfrm>
            <a:custGeom>
              <a:rect b="b" l="l" r="r" t="t"/>
              <a:pathLst>
                <a:path extrusionOk="0"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63000"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7" name="Google Shape;347;p20"/>
            <p:cNvSpPr/>
            <p:nvPr/>
          </p:nvSpPr>
          <p:spPr>
            <a:xfrm>
              <a:off x="6955551" y="0"/>
              <a:ext cx="6982743" cy="6982743"/>
            </a:xfrm>
            <a:custGeom>
              <a:rect b="b" l="l" r="r" t="t"/>
              <a:pathLst>
                <a:path extrusionOk="0"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63000"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8" name="Google Shape;348;p20"/>
            <p:cNvSpPr/>
            <p:nvPr/>
          </p:nvSpPr>
          <p:spPr>
            <a:xfrm>
              <a:off x="13883911" y="0"/>
              <a:ext cx="6982743" cy="6982743"/>
            </a:xfrm>
            <a:custGeom>
              <a:rect b="b" l="l" r="r" t="t"/>
              <a:pathLst>
                <a:path extrusionOk="0"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63000"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9" name="Google Shape;349;p20"/>
            <p:cNvSpPr/>
            <p:nvPr/>
          </p:nvSpPr>
          <p:spPr>
            <a:xfrm>
              <a:off x="20812271" y="0"/>
              <a:ext cx="6982743" cy="6982743"/>
            </a:xfrm>
            <a:custGeom>
              <a:rect b="b" l="l" r="r" t="t"/>
              <a:pathLst>
                <a:path extrusionOk="0"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63000"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0" name="Google Shape;350;p20"/>
            <p:cNvSpPr/>
            <p:nvPr/>
          </p:nvSpPr>
          <p:spPr>
            <a:xfrm>
              <a:off x="0" y="6958390"/>
              <a:ext cx="6982743" cy="6982743"/>
            </a:xfrm>
            <a:custGeom>
              <a:rect b="b" l="l" r="r" t="t"/>
              <a:pathLst>
                <a:path extrusionOk="0"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63000"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1" name="Google Shape;351;p20"/>
            <p:cNvSpPr/>
            <p:nvPr/>
          </p:nvSpPr>
          <p:spPr>
            <a:xfrm>
              <a:off x="6955551" y="6958390"/>
              <a:ext cx="6982743" cy="6982743"/>
            </a:xfrm>
            <a:custGeom>
              <a:rect b="b" l="l" r="r" t="t"/>
              <a:pathLst>
                <a:path extrusionOk="0"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63000"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2" name="Google Shape;352;p20"/>
            <p:cNvSpPr/>
            <p:nvPr/>
          </p:nvSpPr>
          <p:spPr>
            <a:xfrm>
              <a:off x="13883911" y="6958390"/>
              <a:ext cx="6982743" cy="6982743"/>
            </a:xfrm>
            <a:custGeom>
              <a:rect b="b" l="l" r="r" t="t"/>
              <a:pathLst>
                <a:path extrusionOk="0"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63000"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3" name="Google Shape;353;p20"/>
            <p:cNvSpPr/>
            <p:nvPr/>
          </p:nvSpPr>
          <p:spPr>
            <a:xfrm>
              <a:off x="20812271" y="6958390"/>
              <a:ext cx="6982743" cy="6982743"/>
            </a:xfrm>
            <a:custGeom>
              <a:rect b="b" l="l" r="r" t="t"/>
              <a:pathLst>
                <a:path extrusionOk="0"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63000"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4" name="Google Shape;354;p20"/>
          <p:cNvGrpSpPr/>
          <p:nvPr/>
        </p:nvGrpSpPr>
        <p:grpSpPr>
          <a:xfrm>
            <a:off x="980630" y="657693"/>
            <a:ext cx="16326741" cy="8862722"/>
            <a:chOff x="0" y="-241102"/>
            <a:chExt cx="21768988" cy="11816963"/>
          </a:xfrm>
        </p:grpSpPr>
        <p:grpSp>
          <p:nvGrpSpPr>
            <p:cNvPr id="355" name="Google Shape;355;p20"/>
            <p:cNvGrpSpPr/>
            <p:nvPr/>
          </p:nvGrpSpPr>
          <p:grpSpPr>
            <a:xfrm>
              <a:off x="128188" y="-93892"/>
              <a:ext cx="21640800" cy="11669753"/>
              <a:chOff x="0" y="-47625"/>
              <a:chExt cx="4274726" cy="2305136"/>
            </a:xfrm>
          </p:grpSpPr>
          <p:sp>
            <p:nvSpPr>
              <p:cNvPr id="356" name="Google Shape;356;p20"/>
              <p:cNvSpPr/>
              <p:nvPr/>
            </p:nvSpPr>
            <p:spPr>
              <a:xfrm>
                <a:off x="0" y="0"/>
                <a:ext cx="4274726" cy="2257511"/>
              </a:xfrm>
              <a:custGeom>
                <a:rect b="b" l="l" r="r" t="t"/>
                <a:pathLst>
                  <a:path extrusionOk="0"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628566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7" name="Google Shape;357;p20"/>
              <p:cNvSpPr txBox="1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71055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58" name="Google Shape;358;p20"/>
            <p:cNvGrpSpPr/>
            <p:nvPr/>
          </p:nvGrpSpPr>
          <p:grpSpPr>
            <a:xfrm>
              <a:off x="0" y="-241102"/>
              <a:ext cx="21640800" cy="11669753"/>
              <a:chOff x="0" y="-47625"/>
              <a:chExt cx="4274726" cy="2305136"/>
            </a:xfrm>
          </p:grpSpPr>
          <p:sp>
            <p:nvSpPr>
              <p:cNvPr id="359" name="Google Shape;359;p20"/>
              <p:cNvSpPr/>
              <p:nvPr/>
            </p:nvSpPr>
            <p:spPr>
              <a:xfrm>
                <a:off x="0" y="0"/>
                <a:ext cx="4274726" cy="2257511"/>
              </a:xfrm>
              <a:custGeom>
                <a:rect b="b" l="l" r="r" t="t"/>
                <a:pathLst>
                  <a:path extrusionOk="0"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cap="sq" cmpd="sng" w="19050">
                <a:solidFill>
                  <a:srgbClr val="658C6A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0" name="Google Shape;360;p20"/>
              <p:cNvSpPr txBox="1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71055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61" name="Google Shape;361;p20"/>
          <p:cNvSpPr/>
          <p:nvPr/>
        </p:nvSpPr>
        <p:spPr>
          <a:xfrm>
            <a:off x="15720211" y="231437"/>
            <a:ext cx="1136863" cy="1168738"/>
          </a:xfrm>
          <a:custGeom>
            <a:rect b="b" l="l" r="r" t="t"/>
            <a:pathLst>
              <a:path extrusionOk="0"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20"/>
          <p:cNvSpPr txBox="1"/>
          <p:nvPr/>
        </p:nvSpPr>
        <p:spPr>
          <a:xfrm>
            <a:off x="4041627" y="1388861"/>
            <a:ext cx="7898846" cy="1211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6999">
                <a:solidFill>
                  <a:srgbClr val="485849"/>
                </a:solidFill>
                <a:latin typeface="Arial"/>
                <a:ea typeface="Arial"/>
                <a:cs typeface="Arial"/>
                <a:sym typeface="Arial"/>
              </a:rPr>
              <a:t>개발 배경</a:t>
            </a:r>
            <a:endParaRPr sz="6999">
              <a:solidFill>
                <a:srgbClr val="4858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20"/>
          <p:cNvSpPr txBox="1"/>
          <p:nvPr/>
        </p:nvSpPr>
        <p:spPr>
          <a:xfrm>
            <a:off x="1822669" y="989012"/>
            <a:ext cx="2048120" cy="1765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0350">
                <a:solidFill>
                  <a:srgbClr val="8CB791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364" name="Google Shape;364;p20"/>
          <p:cNvSpPr txBox="1"/>
          <p:nvPr/>
        </p:nvSpPr>
        <p:spPr>
          <a:xfrm>
            <a:off x="1822669" y="2387899"/>
            <a:ext cx="15815928" cy="10964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4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4000">
                <a:solidFill>
                  <a:srgbClr val="485849"/>
                </a:solidFill>
                <a:latin typeface="Arial"/>
                <a:ea typeface="Arial"/>
                <a:cs typeface="Arial"/>
                <a:sym typeface="Arial"/>
              </a:rPr>
              <a:t>반려동물 관련 상품 및 서비스에 대한 접근성 향상</a:t>
            </a:r>
            <a:endParaRPr sz="4000">
              <a:solidFill>
                <a:srgbClr val="4858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20"/>
          <p:cNvSpPr txBox="1"/>
          <p:nvPr/>
        </p:nvSpPr>
        <p:spPr>
          <a:xfrm>
            <a:off x="4134838" y="7792888"/>
            <a:ext cx="9922183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벤치마킹 사이트는 사용자들이 다양한 반려동물 정보를 자유롭게 공유함과 동시에 관련 상품에 대한 정보와 구매로의 접근성도 더욱 향상될 수 있도록 구성되어 있습니다.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따라서 상품 및 서비스에 대한 접근성이 크게 향상될 것이라고 보았습니다.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6" name="Google Shape;366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16589" y="4113412"/>
            <a:ext cx="6327244" cy="284863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7" name="Google Shape;367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937693" y="3850819"/>
            <a:ext cx="7196854" cy="34536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A"/>
        </a:solidFill>
      </p:bgPr>
    </p:bg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2" name="Google Shape;372;p21"/>
          <p:cNvGrpSpPr/>
          <p:nvPr/>
        </p:nvGrpSpPr>
        <p:grpSpPr>
          <a:xfrm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id="373" name="Google Shape;373;p21"/>
            <p:cNvSpPr/>
            <p:nvPr/>
          </p:nvSpPr>
          <p:spPr>
            <a:xfrm>
              <a:off x="0" y="0"/>
              <a:ext cx="6982743" cy="6982743"/>
            </a:xfrm>
            <a:custGeom>
              <a:rect b="b" l="l" r="r" t="t"/>
              <a:pathLst>
                <a:path extrusionOk="0"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63000"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4" name="Google Shape;374;p21"/>
            <p:cNvSpPr/>
            <p:nvPr/>
          </p:nvSpPr>
          <p:spPr>
            <a:xfrm>
              <a:off x="6955551" y="0"/>
              <a:ext cx="6982743" cy="6982743"/>
            </a:xfrm>
            <a:custGeom>
              <a:rect b="b" l="l" r="r" t="t"/>
              <a:pathLst>
                <a:path extrusionOk="0"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63000"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5" name="Google Shape;375;p21"/>
            <p:cNvSpPr/>
            <p:nvPr/>
          </p:nvSpPr>
          <p:spPr>
            <a:xfrm>
              <a:off x="13883911" y="0"/>
              <a:ext cx="6982743" cy="6982743"/>
            </a:xfrm>
            <a:custGeom>
              <a:rect b="b" l="l" r="r" t="t"/>
              <a:pathLst>
                <a:path extrusionOk="0"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63000"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6" name="Google Shape;376;p21"/>
            <p:cNvSpPr/>
            <p:nvPr/>
          </p:nvSpPr>
          <p:spPr>
            <a:xfrm>
              <a:off x="20812271" y="0"/>
              <a:ext cx="6982743" cy="6982743"/>
            </a:xfrm>
            <a:custGeom>
              <a:rect b="b" l="l" r="r" t="t"/>
              <a:pathLst>
                <a:path extrusionOk="0"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63000"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7" name="Google Shape;377;p21"/>
            <p:cNvSpPr/>
            <p:nvPr/>
          </p:nvSpPr>
          <p:spPr>
            <a:xfrm>
              <a:off x="0" y="6958390"/>
              <a:ext cx="6982743" cy="6982743"/>
            </a:xfrm>
            <a:custGeom>
              <a:rect b="b" l="l" r="r" t="t"/>
              <a:pathLst>
                <a:path extrusionOk="0"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63000"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8" name="Google Shape;378;p21"/>
            <p:cNvSpPr/>
            <p:nvPr/>
          </p:nvSpPr>
          <p:spPr>
            <a:xfrm>
              <a:off x="6955551" y="6958390"/>
              <a:ext cx="6982743" cy="6982743"/>
            </a:xfrm>
            <a:custGeom>
              <a:rect b="b" l="l" r="r" t="t"/>
              <a:pathLst>
                <a:path extrusionOk="0"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63000"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9" name="Google Shape;379;p21"/>
            <p:cNvSpPr/>
            <p:nvPr/>
          </p:nvSpPr>
          <p:spPr>
            <a:xfrm>
              <a:off x="13883911" y="6958390"/>
              <a:ext cx="6982743" cy="6982743"/>
            </a:xfrm>
            <a:custGeom>
              <a:rect b="b" l="l" r="r" t="t"/>
              <a:pathLst>
                <a:path extrusionOk="0"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63000"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0" name="Google Shape;380;p21"/>
            <p:cNvSpPr/>
            <p:nvPr/>
          </p:nvSpPr>
          <p:spPr>
            <a:xfrm>
              <a:off x="20812271" y="6958390"/>
              <a:ext cx="6982743" cy="6982743"/>
            </a:xfrm>
            <a:custGeom>
              <a:rect b="b" l="l" r="r" t="t"/>
              <a:pathLst>
                <a:path extrusionOk="0"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63000"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1" name="Google Shape;381;p21"/>
          <p:cNvGrpSpPr/>
          <p:nvPr/>
        </p:nvGrpSpPr>
        <p:grpSpPr>
          <a:xfrm>
            <a:off x="980630" y="657693"/>
            <a:ext cx="16326741" cy="8862722"/>
            <a:chOff x="0" y="-241102"/>
            <a:chExt cx="21768988" cy="11816963"/>
          </a:xfrm>
        </p:grpSpPr>
        <p:grpSp>
          <p:nvGrpSpPr>
            <p:cNvPr id="382" name="Google Shape;382;p21"/>
            <p:cNvGrpSpPr/>
            <p:nvPr/>
          </p:nvGrpSpPr>
          <p:grpSpPr>
            <a:xfrm>
              <a:off x="128188" y="-93892"/>
              <a:ext cx="21640800" cy="11669753"/>
              <a:chOff x="0" y="-47625"/>
              <a:chExt cx="4274726" cy="2305136"/>
            </a:xfrm>
          </p:grpSpPr>
          <p:sp>
            <p:nvSpPr>
              <p:cNvPr id="383" name="Google Shape;383;p21"/>
              <p:cNvSpPr/>
              <p:nvPr/>
            </p:nvSpPr>
            <p:spPr>
              <a:xfrm>
                <a:off x="0" y="0"/>
                <a:ext cx="4274726" cy="2257511"/>
              </a:xfrm>
              <a:custGeom>
                <a:rect b="b" l="l" r="r" t="t"/>
                <a:pathLst>
                  <a:path extrusionOk="0"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628566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4" name="Google Shape;384;p21"/>
              <p:cNvSpPr txBox="1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71055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85" name="Google Shape;385;p21"/>
            <p:cNvGrpSpPr/>
            <p:nvPr/>
          </p:nvGrpSpPr>
          <p:grpSpPr>
            <a:xfrm>
              <a:off x="0" y="-241102"/>
              <a:ext cx="21640800" cy="11669753"/>
              <a:chOff x="0" y="-47625"/>
              <a:chExt cx="4274726" cy="2305136"/>
            </a:xfrm>
          </p:grpSpPr>
          <p:sp>
            <p:nvSpPr>
              <p:cNvPr id="386" name="Google Shape;386;p21"/>
              <p:cNvSpPr/>
              <p:nvPr/>
            </p:nvSpPr>
            <p:spPr>
              <a:xfrm>
                <a:off x="0" y="0"/>
                <a:ext cx="4274726" cy="2257511"/>
              </a:xfrm>
              <a:custGeom>
                <a:rect b="b" l="l" r="r" t="t"/>
                <a:pathLst>
                  <a:path extrusionOk="0"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cap="sq" cmpd="sng" w="19050">
                <a:solidFill>
                  <a:srgbClr val="658C6A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7" name="Google Shape;387;p21"/>
              <p:cNvSpPr txBox="1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71055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88" name="Google Shape;388;p21"/>
          <p:cNvSpPr/>
          <p:nvPr/>
        </p:nvSpPr>
        <p:spPr>
          <a:xfrm>
            <a:off x="15720211" y="231437"/>
            <a:ext cx="1136863" cy="1168738"/>
          </a:xfrm>
          <a:custGeom>
            <a:rect b="b" l="l" r="r" t="t"/>
            <a:pathLst>
              <a:path extrusionOk="0"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21"/>
          <p:cNvSpPr txBox="1"/>
          <p:nvPr/>
        </p:nvSpPr>
        <p:spPr>
          <a:xfrm>
            <a:off x="4041627" y="1388861"/>
            <a:ext cx="7898846" cy="1211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6999">
                <a:solidFill>
                  <a:srgbClr val="485849"/>
                </a:solidFill>
                <a:latin typeface="Arial"/>
                <a:ea typeface="Arial"/>
                <a:cs typeface="Arial"/>
                <a:sym typeface="Arial"/>
              </a:rPr>
              <a:t>개발 배경</a:t>
            </a:r>
            <a:endParaRPr sz="6999">
              <a:solidFill>
                <a:srgbClr val="4858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21"/>
          <p:cNvSpPr txBox="1"/>
          <p:nvPr/>
        </p:nvSpPr>
        <p:spPr>
          <a:xfrm>
            <a:off x="1822669" y="989012"/>
            <a:ext cx="2048120" cy="1765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0350">
                <a:solidFill>
                  <a:srgbClr val="8CB791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pic>
        <p:nvPicPr>
          <p:cNvPr id="391" name="Google Shape;391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74597" y="3097898"/>
            <a:ext cx="9234947" cy="58002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A"/>
        </a:solidFill>
      </p:bgPr>
    </p:bg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6" name="Google Shape;396;p22"/>
          <p:cNvGrpSpPr/>
          <p:nvPr/>
        </p:nvGrpSpPr>
        <p:grpSpPr>
          <a:xfrm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id="397" name="Google Shape;397;p22"/>
            <p:cNvSpPr/>
            <p:nvPr/>
          </p:nvSpPr>
          <p:spPr>
            <a:xfrm>
              <a:off x="0" y="0"/>
              <a:ext cx="6982743" cy="6982743"/>
            </a:xfrm>
            <a:custGeom>
              <a:rect b="b" l="l" r="r" t="t"/>
              <a:pathLst>
                <a:path extrusionOk="0"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63000"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8" name="Google Shape;398;p22"/>
            <p:cNvSpPr/>
            <p:nvPr/>
          </p:nvSpPr>
          <p:spPr>
            <a:xfrm>
              <a:off x="6955551" y="0"/>
              <a:ext cx="6982743" cy="6982743"/>
            </a:xfrm>
            <a:custGeom>
              <a:rect b="b" l="l" r="r" t="t"/>
              <a:pathLst>
                <a:path extrusionOk="0"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63000"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9" name="Google Shape;399;p22"/>
            <p:cNvSpPr/>
            <p:nvPr/>
          </p:nvSpPr>
          <p:spPr>
            <a:xfrm>
              <a:off x="13883911" y="0"/>
              <a:ext cx="6982743" cy="6982743"/>
            </a:xfrm>
            <a:custGeom>
              <a:rect b="b" l="l" r="r" t="t"/>
              <a:pathLst>
                <a:path extrusionOk="0"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63000"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0" name="Google Shape;400;p22"/>
            <p:cNvSpPr/>
            <p:nvPr/>
          </p:nvSpPr>
          <p:spPr>
            <a:xfrm>
              <a:off x="20812271" y="0"/>
              <a:ext cx="6982743" cy="6982743"/>
            </a:xfrm>
            <a:custGeom>
              <a:rect b="b" l="l" r="r" t="t"/>
              <a:pathLst>
                <a:path extrusionOk="0"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63000"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1" name="Google Shape;401;p22"/>
            <p:cNvSpPr/>
            <p:nvPr/>
          </p:nvSpPr>
          <p:spPr>
            <a:xfrm>
              <a:off x="0" y="6958390"/>
              <a:ext cx="6982743" cy="6982743"/>
            </a:xfrm>
            <a:custGeom>
              <a:rect b="b" l="l" r="r" t="t"/>
              <a:pathLst>
                <a:path extrusionOk="0"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63000"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2" name="Google Shape;402;p22"/>
            <p:cNvSpPr/>
            <p:nvPr/>
          </p:nvSpPr>
          <p:spPr>
            <a:xfrm>
              <a:off x="6955551" y="6958390"/>
              <a:ext cx="6982743" cy="6982743"/>
            </a:xfrm>
            <a:custGeom>
              <a:rect b="b" l="l" r="r" t="t"/>
              <a:pathLst>
                <a:path extrusionOk="0"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63000"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3" name="Google Shape;403;p22"/>
            <p:cNvSpPr/>
            <p:nvPr/>
          </p:nvSpPr>
          <p:spPr>
            <a:xfrm>
              <a:off x="13883911" y="6958390"/>
              <a:ext cx="6982743" cy="6982743"/>
            </a:xfrm>
            <a:custGeom>
              <a:rect b="b" l="l" r="r" t="t"/>
              <a:pathLst>
                <a:path extrusionOk="0"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63000"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4" name="Google Shape;404;p22"/>
            <p:cNvSpPr/>
            <p:nvPr/>
          </p:nvSpPr>
          <p:spPr>
            <a:xfrm>
              <a:off x="20812271" y="6958390"/>
              <a:ext cx="6982743" cy="6982743"/>
            </a:xfrm>
            <a:custGeom>
              <a:rect b="b" l="l" r="r" t="t"/>
              <a:pathLst>
                <a:path extrusionOk="0"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63000"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5" name="Google Shape;405;p22"/>
          <p:cNvGrpSpPr/>
          <p:nvPr/>
        </p:nvGrpSpPr>
        <p:grpSpPr>
          <a:xfrm>
            <a:off x="980630" y="657693"/>
            <a:ext cx="16326741" cy="8862722"/>
            <a:chOff x="0" y="-241102"/>
            <a:chExt cx="21768988" cy="11816963"/>
          </a:xfrm>
        </p:grpSpPr>
        <p:grpSp>
          <p:nvGrpSpPr>
            <p:cNvPr id="406" name="Google Shape;406;p22"/>
            <p:cNvGrpSpPr/>
            <p:nvPr/>
          </p:nvGrpSpPr>
          <p:grpSpPr>
            <a:xfrm>
              <a:off x="128188" y="-93892"/>
              <a:ext cx="21640800" cy="11669753"/>
              <a:chOff x="0" y="-47625"/>
              <a:chExt cx="4274726" cy="2305136"/>
            </a:xfrm>
          </p:grpSpPr>
          <p:sp>
            <p:nvSpPr>
              <p:cNvPr id="407" name="Google Shape;407;p22"/>
              <p:cNvSpPr/>
              <p:nvPr/>
            </p:nvSpPr>
            <p:spPr>
              <a:xfrm>
                <a:off x="0" y="0"/>
                <a:ext cx="4274726" cy="2257511"/>
              </a:xfrm>
              <a:custGeom>
                <a:rect b="b" l="l" r="r" t="t"/>
                <a:pathLst>
                  <a:path extrusionOk="0"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628566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8" name="Google Shape;408;p22"/>
              <p:cNvSpPr txBox="1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71055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09" name="Google Shape;409;p22"/>
            <p:cNvGrpSpPr/>
            <p:nvPr/>
          </p:nvGrpSpPr>
          <p:grpSpPr>
            <a:xfrm>
              <a:off x="0" y="-241102"/>
              <a:ext cx="21640800" cy="11669753"/>
              <a:chOff x="0" y="-47625"/>
              <a:chExt cx="4274726" cy="2305136"/>
            </a:xfrm>
          </p:grpSpPr>
          <p:sp>
            <p:nvSpPr>
              <p:cNvPr id="410" name="Google Shape;410;p22"/>
              <p:cNvSpPr/>
              <p:nvPr/>
            </p:nvSpPr>
            <p:spPr>
              <a:xfrm>
                <a:off x="0" y="0"/>
                <a:ext cx="4274726" cy="2257511"/>
              </a:xfrm>
              <a:custGeom>
                <a:rect b="b" l="l" r="r" t="t"/>
                <a:pathLst>
                  <a:path extrusionOk="0"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cap="sq" cmpd="sng" w="19050">
                <a:solidFill>
                  <a:srgbClr val="658C6A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1" name="Google Shape;411;p22"/>
              <p:cNvSpPr txBox="1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71055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12" name="Google Shape;412;p22"/>
          <p:cNvSpPr/>
          <p:nvPr/>
        </p:nvSpPr>
        <p:spPr>
          <a:xfrm>
            <a:off x="15720211" y="231437"/>
            <a:ext cx="1136863" cy="1168738"/>
          </a:xfrm>
          <a:custGeom>
            <a:rect b="b" l="l" r="r" t="t"/>
            <a:pathLst>
              <a:path extrusionOk="0"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22"/>
          <p:cNvSpPr txBox="1"/>
          <p:nvPr/>
        </p:nvSpPr>
        <p:spPr>
          <a:xfrm>
            <a:off x="4041627" y="1388861"/>
            <a:ext cx="7898846" cy="1211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6999">
                <a:solidFill>
                  <a:srgbClr val="485849"/>
                </a:solidFill>
                <a:latin typeface="Arial"/>
                <a:ea typeface="Arial"/>
                <a:cs typeface="Arial"/>
                <a:sym typeface="Arial"/>
              </a:rPr>
              <a:t>개발 배경</a:t>
            </a:r>
            <a:endParaRPr sz="6999">
              <a:solidFill>
                <a:srgbClr val="4858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22"/>
          <p:cNvSpPr txBox="1"/>
          <p:nvPr/>
        </p:nvSpPr>
        <p:spPr>
          <a:xfrm>
            <a:off x="1822669" y="989012"/>
            <a:ext cx="2048120" cy="1765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0350">
                <a:solidFill>
                  <a:srgbClr val="8CB791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415" name="Google Shape;415;p22"/>
          <p:cNvSpPr txBox="1"/>
          <p:nvPr/>
        </p:nvSpPr>
        <p:spPr>
          <a:xfrm>
            <a:off x="1822669" y="2310803"/>
            <a:ext cx="15815928" cy="10964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4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4000">
                <a:solidFill>
                  <a:srgbClr val="485849"/>
                </a:solidFill>
                <a:latin typeface="Arial"/>
                <a:ea typeface="Arial"/>
                <a:cs typeface="Arial"/>
                <a:sym typeface="Arial"/>
              </a:rPr>
              <a:t>커뮤니티 소통 기능 강화</a:t>
            </a:r>
            <a:endParaRPr sz="4000">
              <a:solidFill>
                <a:srgbClr val="4858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6" name="Google Shape;416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76514" y="2091244"/>
            <a:ext cx="7735086" cy="50375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7" name="Google Shape;417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60259" y="2611258"/>
            <a:ext cx="8087410" cy="764627"/>
          </a:xfrm>
          <a:prstGeom prst="rect">
            <a:avLst/>
          </a:prstGeom>
          <a:noFill/>
          <a:ln>
            <a:noFill/>
          </a:ln>
        </p:spPr>
      </p:pic>
      <p:pic>
        <p:nvPicPr>
          <p:cNvPr id="418" name="Google Shape;418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912029" y="3578458"/>
            <a:ext cx="7664055" cy="5476341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22"/>
          <p:cNvSpPr txBox="1"/>
          <p:nvPr/>
        </p:nvSpPr>
        <p:spPr>
          <a:xfrm>
            <a:off x="1489373" y="4894545"/>
            <a:ext cx="7170886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반려동물 보호자들끼리 경험을 공유하고, 질문과 답변을 나눌 수 있는 커뮤니티 공간을 통해 사용자 만족도 및 플랫폼의 지속적인 이용 유도가 가능하다고 보았습니다. 또한 다양한 주제를 가볍게 나눌 수 있다는 점에서 접근성이 좋은 커뮤니티 공간이라고 판단하였습니다.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A"/>
        </a:solidFill>
      </p:bgPr>
    </p:bg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4" name="Google Shape;424;p23"/>
          <p:cNvGrpSpPr/>
          <p:nvPr/>
        </p:nvGrpSpPr>
        <p:grpSpPr>
          <a:xfrm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id="425" name="Google Shape;425;p23"/>
            <p:cNvSpPr/>
            <p:nvPr/>
          </p:nvSpPr>
          <p:spPr>
            <a:xfrm>
              <a:off x="0" y="0"/>
              <a:ext cx="6982743" cy="6982743"/>
            </a:xfrm>
            <a:custGeom>
              <a:rect b="b" l="l" r="r" t="t"/>
              <a:pathLst>
                <a:path extrusionOk="0"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63000"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6" name="Google Shape;426;p23"/>
            <p:cNvSpPr/>
            <p:nvPr/>
          </p:nvSpPr>
          <p:spPr>
            <a:xfrm>
              <a:off x="6955551" y="0"/>
              <a:ext cx="6982743" cy="6982743"/>
            </a:xfrm>
            <a:custGeom>
              <a:rect b="b" l="l" r="r" t="t"/>
              <a:pathLst>
                <a:path extrusionOk="0"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63000"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7" name="Google Shape;427;p23"/>
            <p:cNvSpPr/>
            <p:nvPr/>
          </p:nvSpPr>
          <p:spPr>
            <a:xfrm>
              <a:off x="13883911" y="0"/>
              <a:ext cx="6982743" cy="6982743"/>
            </a:xfrm>
            <a:custGeom>
              <a:rect b="b" l="l" r="r" t="t"/>
              <a:pathLst>
                <a:path extrusionOk="0"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63000"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8" name="Google Shape;428;p23"/>
            <p:cNvSpPr/>
            <p:nvPr/>
          </p:nvSpPr>
          <p:spPr>
            <a:xfrm>
              <a:off x="20812271" y="0"/>
              <a:ext cx="6982743" cy="6982743"/>
            </a:xfrm>
            <a:custGeom>
              <a:rect b="b" l="l" r="r" t="t"/>
              <a:pathLst>
                <a:path extrusionOk="0"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63000"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9" name="Google Shape;429;p23"/>
            <p:cNvSpPr/>
            <p:nvPr/>
          </p:nvSpPr>
          <p:spPr>
            <a:xfrm>
              <a:off x="0" y="6958390"/>
              <a:ext cx="6982743" cy="6982743"/>
            </a:xfrm>
            <a:custGeom>
              <a:rect b="b" l="l" r="r" t="t"/>
              <a:pathLst>
                <a:path extrusionOk="0"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63000"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0" name="Google Shape;430;p23"/>
            <p:cNvSpPr/>
            <p:nvPr/>
          </p:nvSpPr>
          <p:spPr>
            <a:xfrm>
              <a:off x="6955551" y="6958390"/>
              <a:ext cx="6982743" cy="6982743"/>
            </a:xfrm>
            <a:custGeom>
              <a:rect b="b" l="l" r="r" t="t"/>
              <a:pathLst>
                <a:path extrusionOk="0"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63000"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1" name="Google Shape;431;p23"/>
            <p:cNvSpPr/>
            <p:nvPr/>
          </p:nvSpPr>
          <p:spPr>
            <a:xfrm>
              <a:off x="13883911" y="6958390"/>
              <a:ext cx="6982743" cy="6982743"/>
            </a:xfrm>
            <a:custGeom>
              <a:rect b="b" l="l" r="r" t="t"/>
              <a:pathLst>
                <a:path extrusionOk="0"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63000"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2" name="Google Shape;432;p23"/>
            <p:cNvSpPr/>
            <p:nvPr/>
          </p:nvSpPr>
          <p:spPr>
            <a:xfrm>
              <a:off x="20812271" y="6958390"/>
              <a:ext cx="6982743" cy="6982743"/>
            </a:xfrm>
            <a:custGeom>
              <a:rect b="b" l="l" r="r" t="t"/>
              <a:pathLst>
                <a:path extrusionOk="0"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63000"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3" name="Google Shape;433;p23"/>
          <p:cNvGrpSpPr/>
          <p:nvPr/>
        </p:nvGrpSpPr>
        <p:grpSpPr>
          <a:xfrm>
            <a:off x="980630" y="657693"/>
            <a:ext cx="16326741" cy="8862722"/>
            <a:chOff x="0" y="-241102"/>
            <a:chExt cx="21768988" cy="11816963"/>
          </a:xfrm>
        </p:grpSpPr>
        <p:grpSp>
          <p:nvGrpSpPr>
            <p:cNvPr id="434" name="Google Shape;434;p23"/>
            <p:cNvGrpSpPr/>
            <p:nvPr/>
          </p:nvGrpSpPr>
          <p:grpSpPr>
            <a:xfrm>
              <a:off x="128188" y="-93892"/>
              <a:ext cx="21640800" cy="11669753"/>
              <a:chOff x="0" y="-47625"/>
              <a:chExt cx="4274726" cy="2305136"/>
            </a:xfrm>
          </p:grpSpPr>
          <p:sp>
            <p:nvSpPr>
              <p:cNvPr id="435" name="Google Shape;435;p23"/>
              <p:cNvSpPr/>
              <p:nvPr/>
            </p:nvSpPr>
            <p:spPr>
              <a:xfrm>
                <a:off x="0" y="0"/>
                <a:ext cx="4274726" cy="2257511"/>
              </a:xfrm>
              <a:custGeom>
                <a:rect b="b" l="l" r="r" t="t"/>
                <a:pathLst>
                  <a:path extrusionOk="0"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628566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6" name="Google Shape;436;p23"/>
              <p:cNvSpPr txBox="1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71055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37" name="Google Shape;437;p23"/>
            <p:cNvGrpSpPr/>
            <p:nvPr/>
          </p:nvGrpSpPr>
          <p:grpSpPr>
            <a:xfrm>
              <a:off x="0" y="-241102"/>
              <a:ext cx="21640800" cy="11669753"/>
              <a:chOff x="0" y="-47625"/>
              <a:chExt cx="4274726" cy="2305136"/>
            </a:xfrm>
          </p:grpSpPr>
          <p:sp>
            <p:nvSpPr>
              <p:cNvPr id="438" name="Google Shape;438;p23"/>
              <p:cNvSpPr/>
              <p:nvPr/>
            </p:nvSpPr>
            <p:spPr>
              <a:xfrm>
                <a:off x="0" y="0"/>
                <a:ext cx="4274726" cy="2257511"/>
              </a:xfrm>
              <a:custGeom>
                <a:rect b="b" l="l" r="r" t="t"/>
                <a:pathLst>
                  <a:path extrusionOk="0"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cap="sq" cmpd="sng" w="19050">
                <a:solidFill>
                  <a:srgbClr val="658C6A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9" name="Google Shape;439;p23"/>
              <p:cNvSpPr txBox="1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71055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40" name="Google Shape;440;p23"/>
          <p:cNvSpPr/>
          <p:nvPr/>
        </p:nvSpPr>
        <p:spPr>
          <a:xfrm>
            <a:off x="15720211" y="231437"/>
            <a:ext cx="1136863" cy="1168738"/>
          </a:xfrm>
          <a:custGeom>
            <a:rect b="b" l="l" r="r" t="t"/>
            <a:pathLst>
              <a:path extrusionOk="0"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23"/>
          <p:cNvSpPr txBox="1"/>
          <p:nvPr/>
        </p:nvSpPr>
        <p:spPr>
          <a:xfrm>
            <a:off x="4041626" y="1388861"/>
            <a:ext cx="9784145" cy="1211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6999">
                <a:solidFill>
                  <a:srgbClr val="485849"/>
                </a:solidFill>
                <a:latin typeface="Arial"/>
                <a:ea typeface="Arial"/>
                <a:cs typeface="Arial"/>
                <a:sym typeface="Arial"/>
              </a:rPr>
              <a:t>구현 목표 - 기존사이트</a:t>
            </a:r>
            <a:endParaRPr sz="6999">
              <a:solidFill>
                <a:srgbClr val="4858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23"/>
          <p:cNvSpPr txBox="1"/>
          <p:nvPr/>
        </p:nvSpPr>
        <p:spPr>
          <a:xfrm>
            <a:off x="1822669" y="989012"/>
            <a:ext cx="2048120" cy="17927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0350">
                <a:solidFill>
                  <a:srgbClr val="8CB791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443" name="Google Shape;443;p23"/>
          <p:cNvSpPr txBox="1"/>
          <p:nvPr/>
        </p:nvSpPr>
        <p:spPr>
          <a:xfrm>
            <a:off x="14179928" y="3340829"/>
            <a:ext cx="722396" cy="922626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199">
                <a:solidFill>
                  <a:srgbClr val="FFFFFA"/>
                </a:solidFill>
                <a:latin typeface="Arial"/>
                <a:ea typeface="Arial"/>
                <a:cs typeface="Arial"/>
                <a:sym typeface="Arial"/>
              </a:rPr>
              <a:t>4차</a:t>
            </a:r>
            <a:endParaRPr/>
          </a:p>
        </p:txBody>
      </p:sp>
      <p:sp>
        <p:nvSpPr>
          <p:cNvPr id="444" name="Google Shape;444;p23"/>
          <p:cNvSpPr txBox="1"/>
          <p:nvPr/>
        </p:nvSpPr>
        <p:spPr>
          <a:xfrm>
            <a:off x="2235613" y="3374669"/>
            <a:ext cx="13720634" cy="5244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2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45" name="Google Shape;445;p23"/>
          <p:cNvGrpSpPr/>
          <p:nvPr/>
        </p:nvGrpSpPr>
        <p:grpSpPr>
          <a:xfrm>
            <a:off x="4744595" y="3191740"/>
            <a:ext cx="3098388" cy="2662839"/>
            <a:chOff x="5342323" y="4247350"/>
            <a:chExt cx="3098388" cy="2662839"/>
          </a:xfrm>
        </p:grpSpPr>
        <p:sp>
          <p:nvSpPr>
            <p:cNvPr id="446" name="Google Shape;446;p23"/>
            <p:cNvSpPr/>
            <p:nvPr/>
          </p:nvSpPr>
          <p:spPr>
            <a:xfrm>
              <a:off x="5342323" y="4247350"/>
              <a:ext cx="3098388" cy="2662839"/>
            </a:xfrm>
            <a:custGeom>
              <a:rect b="b" l="l" r="r" t="t"/>
              <a:pathLst>
                <a:path extrusionOk="0" h="1365236" w="1813523">
                  <a:moveTo>
                    <a:pt x="116556" y="0"/>
                  </a:moveTo>
                  <a:lnTo>
                    <a:pt x="1696967" y="0"/>
                  </a:lnTo>
                  <a:cubicBezTo>
                    <a:pt x="1727879" y="0"/>
                    <a:pt x="1757526" y="12280"/>
                    <a:pt x="1779384" y="34138"/>
                  </a:cubicBezTo>
                  <a:cubicBezTo>
                    <a:pt x="1801243" y="55997"/>
                    <a:pt x="1813523" y="85643"/>
                    <a:pt x="1813523" y="116556"/>
                  </a:cubicBezTo>
                  <a:lnTo>
                    <a:pt x="1813523" y="1248680"/>
                  </a:lnTo>
                  <a:cubicBezTo>
                    <a:pt x="1813523" y="1313052"/>
                    <a:pt x="1761339" y="1365236"/>
                    <a:pt x="1696967" y="1365236"/>
                  </a:cubicBezTo>
                  <a:lnTo>
                    <a:pt x="116556" y="1365236"/>
                  </a:lnTo>
                  <a:cubicBezTo>
                    <a:pt x="52184" y="1365236"/>
                    <a:pt x="0" y="1313052"/>
                    <a:pt x="0" y="1248680"/>
                  </a:cubicBezTo>
                  <a:lnTo>
                    <a:pt x="0" y="116556"/>
                  </a:lnTo>
                  <a:cubicBezTo>
                    <a:pt x="0" y="52184"/>
                    <a:pt x="52184" y="0"/>
                    <a:pt x="116556" y="0"/>
                  </a:cubicBezTo>
                  <a:close/>
                </a:path>
              </a:pathLst>
            </a:custGeom>
            <a:solidFill>
              <a:srgbClr val="E3F0E5">
                <a:alpha val="30588"/>
              </a:srgbClr>
            </a:solidFill>
            <a:ln cap="rnd" cmpd="sng" w="19050">
              <a:solidFill>
                <a:srgbClr val="3E4047">
                  <a:alpha val="30588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rgbClr val="658C6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2800">
                  <a:solidFill>
                    <a:srgbClr val="658C6A"/>
                  </a:solidFill>
                  <a:latin typeface="Arial"/>
                  <a:ea typeface="Arial"/>
                  <a:cs typeface="Arial"/>
                  <a:sym typeface="Arial"/>
                </a:rPr>
                <a:t>        회원가입</a:t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7" name="Google Shape;447;p23"/>
            <p:cNvSpPr txBox="1"/>
            <p:nvPr/>
          </p:nvSpPr>
          <p:spPr>
            <a:xfrm>
              <a:off x="5500875" y="5404993"/>
              <a:ext cx="2882520" cy="12003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기존 사이트와 동일하게 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이메일 회원가입을 하되,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인증을 통하여 회원가입이 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가능하도록 구현</a:t>
              </a:r>
              <a:endParaRPr/>
            </a:p>
          </p:txBody>
        </p:sp>
      </p:grpSp>
      <p:grpSp>
        <p:nvGrpSpPr>
          <p:cNvPr id="448" name="Google Shape;448;p23"/>
          <p:cNvGrpSpPr/>
          <p:nvPr/>
        </p:nvGrpSpPr>
        <p:grpSpPr>
          <a:xfrm>
            <a:off x="1407127" y="3191740"/>
            <a:ext cx="3098388" cy="2650147"/>
            <a:chOff x="1634074" y="4247350"/>
            <a:chExt cx="3098388" cy="2650147"/>
          </a:xfrm>
        </p:grpSpPr>
        <p:sp>
          <p:nvSpPr>
            <p:cNvPr id="449" name="Google Shape;449;p23"/>
            <p:cNvSpPr/>
            <p:nvPr/>
          </p:nvSpPr>
          <p:spPr>
            <a:xfrm>
              <a:off x="1634074" y="4247350"/>
              <a:ext cx="3098388" cy="2650147"/>
            </a:xfrm>
            <a:custGeom>
              <a:rect b="b" l="l" r="r" t="t"/>
              <a:pathLst>
                <a:path extrusionOk="0" h="1365236" w="1813523">
                  <a:moveTo>
                    <a:pt x="116556" y="0"/>
                  </a:moveTo>
                  <a:lnTo>
                    <a:pt x="1696967" y="0"/>
                  </a:lnTo>
                  <a:cubicBezTo>
                    <a:pt x="1727879" y="0"/>
                    <a:pt x="1757526" y="12280"/>
                    <a:pt x="1779384" y="34138"/>
                  </a:cubicBezTo>
                  <a:cubicBezTo>
                    <a:pt x="1801243" y="55997"/>
                    <a:pt x="1813523" y="85643"/>
                    <a:pt x="1813523" y="116556"/>
                  </a:cubicBezTo>
                  <a:lnTo>
                    <a:pt x="1813523" y="1248680"/>
                  </a:lnTo>
                  <a:cubicBezTo>
                    <a:pt x="1813523" y="1313052"/>
                    <a:pt x="1761339" y="1365236"/>
                    <a:pt x="1696967" y="1365236"/>
                  </a:cubicBezTo>
                  <a:lnTo>
                    <a:pt x="116556" y="1365236"/>
                  </a:lnTo>
                  <a:cubicBezTo>
                    <a:pt x="52184" y="1365236"/>
                    <a:pt x="0" y="1313052"/>
                    <a:pt x="0" y="1248680"/>
                  </a:cubicBezTo>
                  <a:lnTo>
                    <a:pt x="0" y="116556"/>
                  </a:lnTo>
                  <a:cubicBezTo>
                    <a:pt x="0" y="52184"/>
                    <a:pt x="52184" y="0"/>
                    <a:pt x="116556" y="0"/>
                  </a:cubicBezTo>
                  <a:close/>
                </a:path>
              </a:pathLst>
            </a:custGeom>
            <a:solidFill>
              <a:srgbClr val="E3F0E5">
                <a:alpha val="30588"/>
              </a:srgbClr>
            </a:solidFill>
            <a:ln cap="rnd" cmpd="sng" w="19050">
              <a:solidFill>
                <a:srgbClr val="3E4047">
                  <a:alpha val="30588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rgbClr val="658C6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2800">
                  <a:solidFill>
                    <a:srgbClr val="658C6A"/>
                  </a:solidFill>
                  <a:latin typeface="Arial"/>
                  <a:ea typeface="Arial"/>
                  <a:cs typeface="Arial"/>
                  <a:sym typeface="Arial"/>
                </a:rPr>
                <a:t>          로그인</a:t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0" name="Google Shape;450;p23"/>
            <p:cNvSpPr txBox="1"/>
            <p:nvPr/>
          </p:nvSpPr>
          <p:spPr>
            <a:xfrm>
              <a:off x="1782059" y="5480068"/>
              <a:ext cx="2882520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이메일이 아이디가 되어 로그인이 가능하도록 구현</a:t>
              </a:r>
              <a:endParaRPr/>
            </a:p>
          </p:txBody>
        </p:sp>
      </p:grpSp>
      <p:sp>
        <p:nvSpPr>
          <p:cNvPr id="451" name="Google Shape;451;p23"/>
          <p:cNvSpPr/>
          <p:nvPr/>
        </p:nvSpPr>
        <p:spPr>
          <a:xfrm>
            <a:off x="8082063" y="3191740"/>
            <a:ext cx="3098388" cy="2687110"/>
          </a:xfrm>
          <a:custGeom>
            <a:rect b="b" l="l" r="r" t="t"/>
            <a:pathLst>
              <a:path extrusionOk="0" h="1365236" w="1813523">
                <a:moveTo>
                  <a:pt x="116556" y="0"/>
                </a:moveTo>
                <a:lnTo>
                  <a:pt x="1696967" y="0"/>
                </a:lnTo>
                <a:cubicBezTo>
                  <a:pt x="1727879" y="0"/>
                  <a:pt x="1757526" y="12280"/>
                  <a:pt x="1779384" y="34138"/>
                </a:cubicBezTo>
                <a:cubicBezTo>
                  <a:pt x="1801243" y="55997"/>
                  <a:pt x="1813523" y="85643"/>
                  <a:pt x="1813523" y="116556"/>
                </a:cubicBezTo>
                <a:lnTo>
                  <a:pt x="1813523" y="1248680"/>
                </a:lnTo>
                <a:cubicBezTo>
                  <a:pt x="1813523" y="1313052"/>
                  <a:pt x="1761339" y="1365236"/>
                  <a:pt x="1696967" y="1365236"/>
                </a:cubicBezTo>
                <a:lnTo>
                  <a:pt x="116556" y="1365236"/>
                </a:lnTo>
                <a:cubicBezTo>
                  <a:pt x="52184" y="1365236"/>
                  <a:pt x="0" y="1313052"/>
                  <a:pt x="0" y="1248680"/>
                </a:cubicBezTo>
                <a:lnTo>
                  <a:pt x="0" y="116556"/>
                </a:lnTo>
                <a:cubicBezTo>
                  <a:pt x="0" y="52184"/>
                  <a:pt x="52184" y="0"/>
                  <a:pt x="116556" y="0"/>
                </a:cubicBezTo>
                <a:close/>
              </a:path>
            </a:pathLst>
          </a:custGeom>
          <a:solidFill>
            <a:srgbClr val="E3F0E5">
              <a:alpha val="30588"/>
            </a:srgbClr>
          </a:solidFill>
          <a:ln cap="rnd" cmpd="sng" w="19050">
            <a:solidFill>
              <a:srgbClr val="3E4047">
                <a:alpha val="3058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800">
                <a:solidFill>
                  <a:srgbClr val="658C6A"/>
                </a:solidFill>
                <a:latin typeface="Arial"/>
                <a:ea typeface="Arial"/>
                <a:cs typeface="Arial"/>
                <a:sym typeface="Arial"/>
              </a:rPr>
              <a:t>          </a:t>
            </a:r>
            <a:endParaRPr sz="2800">
              <a:solidFill>
                <a:srgbClr val="658C6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800">
                <a:solidFill>
                  <a:srgbClr val="658C6A"/>
                </a:solidFill>
                <a:latin typeface="Arial"/>
                <a:ea typeface="Arial"/>
                <a:cs typeface="Arial"/>
                <a:sym typeface="Arial"/>
              </a:rPr>
              <a:t>         게시판</a:t>
            </a:r>
            <a:r>
              <a:rPr lang="ko-K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23"/>
          <p:cNvSpPr txBox="1"/>
          <p:nvPr/>
        </p:nvSpPr>
        <p:spPr>
          <a:xfrm>
            <a:off x="8082063" y="4424458"/>
            <a:ext cx="3113353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소통을 위한 게시판으로,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로그인 시 글 작성과 수정,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댓글 달기가 가능하도록 구현</a:t>
            </a:r>
            <a:endParaRPr/>
          </a:p>
        </p:txBody>
      </p:sp>
      <p:grpSp>
        <p:nvGrpSpPr>
          <p:cNvPr id="453" name="Google Shape;453;p23"/>
          <p:cNvGrpSpPr/>
          <p:nvPr/>
        </p:nvGrpSpPr>
        <p:grpSpPr>
          <a:xfrm>
            <a:off x="13220303" y="6211030"/>
            <a:ext cx="3144250" cy="2687109"/>
            <a:chOff x="12758822" y="4247350"/>
            <a:chExt cx="3144250" cy="2687109"/>
          </a:xfrm>
        </p:grpSpPr>
        <p:sp>
          <p:nvSpPr>
            <p:cNvPr id="454" name="Google Shape;454;p23"/>
            <p:cNvSpPr/>
            <p:nvPr/>
          </p:nvSpPr>
          <p:spPr>
            <a:xfrm>
              <a:off x="12758822" y="4247350"/>
              <a:ext cx="3098388" cy="2687109"/>
            </a:xfrm>
            <a:custGeom>
              <a:rect b="b" l="l" r="r" t="t"/>
              <a:pathLst>
                <a:path extrusionOk="0" h="1365236" w="1813523">
                  <a:moveTo>
                    <a:pt x="116556" y="0"/>
                  </a:moveTo>
                  <a:lnTo>
                    <a:pt x="1696967" y="0"/>
                  </a:lnTo>
                  <a:cubicBezTo>
                    <a:pt x="1727879" y="0"/>
                    <a:pt x="1757526" y="12280"/>
                    <a:pt x="1779384" y="34138"/>
                  </a:cubicBezTo>
                  <a:cubicBezTo>
                    <a:pt x="1801243" y="55997"/>
                    <a:pt x="1813523" y="85643"/>
                    <a:pt x="1813523" y="116556"/>
                  </a:cubicBezTo>
                  <a:lnTo>
                    <a:pt x="1813523" y="1248680"/>
                  </a:lnTo>
                  <a:cubicBezTo>
                    <a:pt x="1813523" y="1313052"/>
                    <a:pt x="1761339" y="1365236"/>
                    <a:pt x="1696967" y="1365236"/>
                  </a:cubicBezTo>
                  <a:lnTo>
                    <a:pt x="116556" y="1365236"/>
                  </a:lnTo>
                  <a:cubicBezTo>
                    <a:pt x="52184" y="1365236"/>
                    <a:pt x="0" y="1313052"/>
                    <a:pt x="0" y="1248680"/>
                  </a:cubicBezTo>
                  <a:lnTo>
                    <a:pt x="0" y="116556"/>
                  </a:lnTo>
                  <a:cubicBezTo>
                    <a:pt x="0" y="52184"/>
                    <a:pt x="52184" y="0"/>
                    <a:pt x="116556" y="0"/>
                  </a:cubicBezTo>
                  <a:close/>
                </a:path>
              </a:pathLst>
            </a:custGeom>
            <a:solidFill>
              <a:srgbClr val="E3F0E5">
                <a:alpha val="30588"/>
              </a:srgbClr>
            </a:solidFill>
            <a:ln cap="rnd" cmpd="sng" w="19050">
              <a:solidFill>
                <a:srgbClr val="3E4047">
                  <a:alpha val="30588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2800">
                  <a:solidFill>
                    <a:srgbClr val="658C6A"/>
                  </a:solidFill>
                  <a:latin typeface="Arial"/>
                  <a:ea typeface="Arial"/>
                  <a:cs typeface="Arial"/>
                  <a:sym typeface="Arial"/>
                </a:rPr>
                <a:t>          </a:t>
              </a:r>
              <a:endParaRPr sz="2800">
                <a:solidFill>
                  <a:srgbClr val="658C6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2800">
                  <a:solidFill>
                    <a:srgbClr val="658C6A"/>
                  </a:solidFill>
                  <a:latin typeface="Arial"/>
                  <a:ea typeface="Arial"/>
                  <a:cs typeface="Arial"/>
                  <a:sym typeface="Arial"/>
                </a:rPr>
                <a:t>          쇼핑몰</a:t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5" name="Google Shape;455;p23"/>
            <p:cNvSpPr txBox="1"/>
            <p:nvPr/>
          </p:nvSpPr>
          <p:spPr>
            <a:xfrm>
              <a:off x="12799338" y="5468494"/>
              <a:ext cx="3103734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상품 판매 기능 추가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회원 – 상품 구매 및 장바구니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관리자 – 상품 삭제,등록,수정</a:t>
              </a:r>
              <a:endParaRPr/>
            </a:p>
          </p:txBody>
        </p:sp>
      </p:grpSp>
      <p:sp>
        <p:nvSpPr>
          <p:cNvPr id="456" name="Google Shape;456;p23"/>
          <p:cNvSpPr/>
          <p:nvPr/>
        </p:nvSpPr>
        <p:spPr>
          <a:xfrm>
            <a:off x="9818201" y="6211030"/>
            <a:ext cx="3098388" cy="2687110"/>
          </a:xfrm>
          <a:custGeom>
            <a:rect b="b" l="l" r="r" t="t"/>
            <a:pathLst>
              <a:path extrusionOk="0" h="1365236" w="1813523">
                <a:moveTo>
                  <a:pt x="116556" y="0"/>
                </a:moveTo>
                <a:lnTo>
                  <a:pt x="1696967" y="0"/>
                </a:lnTo>
                <a:cubicBezTo>
                  <a:pt x="1727879" y="0"/>
                  <a:pt x="1757526" y="12280"/>
                  <a:pt x="1779384" y="34138"/>
                </a:cubicBezTo>
                <a:cubicBezTo>
                  <a:pt x="1801243" y="55997"/>
                  <a:pt x="1813523" y="85643"/>
                  <a:pt x="1813523" y="116556"/>
                </a:cubicBezTo>
                <a:lnTo>
                  <a:pt x="1813523" y="1248680"/>
                </a:lnTo>
                <a:cubicBezTo>
                  <a:pt x="1813523" y="1313052"/>
                  <a:pt x="1761339" y="1365236"/>
                  <a:pt x="1696967" y="1365236"/>
                </a:cubicBezTo>
                <a:lnTo>
                  <a:pt x="116556" y="1365236"/>
                </a:lnTo>
                <a:cubicBezTo>
                  <a:pt x="52184" y="1365236"/>
                  <a:pt x="0" y="1313052"/>
                  <a:pt x="0" y="1248680"/>
                </a:cubicBezTo>
                <a:lnTo>
                  <a:pt x="0" y="116556"/>
                </a:lnTo>
                <a:cubicBezTo>
                  <a:pt x="0" y="52184"/>
                  <a:pt x="52184" y="0"/>
                  <a:pt x="116556" y="0"/>
                </a:cubicBezTo>
                <a:close/>
              </a:path>
            </a:pathLst>
          </a:custGeom>
          <a:solidFill>
            <a:srgbClr val="E3F0E5">
              <a:alpha val="30588"/>
            </a:srgbClr>
          </a:solidFill>
          <a:ln cap="rnd" cmpd="sng" w="19050">
            <a:solidFill>
              <a:srgbClr val="3E4047">
                <a:alpha val="3058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800">
                <a:solidFill>
                  <a:srgbClr val="658C6A"/>
                </a:solidFill>
                <a:latin typeface="Arial"/>
                <a:ea typeface="Arial"/>
                <a:cs typeface="Arial"/>
                <a:sym typeface="Arial"/>
              </a:rPr>
              <a:t>          </a:t>
            </a:r>
            <a:endParaRPr sz="2800">
              <a:solidFill>
                <a:srgbClr val="658C6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800">
                <a:solidFill>
                  <a:srgbClr val="658C6A"/>
                </a:solidFill>
                <a:latin typeface="Arial"/>
                <a:ea typeface="Arial"/>
                <a:cs typeface="Arial"/>
                <a:sym typeface="Arial"/>
              </a:rPr>
              <a:t>         관리자</a:t>
            </a:r>
            <a:r>
              <a:rPr lang="ko-K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23"/>
          <p:cNvSpPr txBox="1"/>
          <p:nvPr/>
        </p:nvSpPr>
        <p:spPr>
          <a:xfrm>
            <a:off x="9930362" y="7290651"/>
            <a:ext cx="2882519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회원 관리, 게시판 관리가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가능하도록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특정 로그인 정보에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관리자 기능 부여,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관리자 페이지를 따로 개발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A"/>
        </a:solidFill>
      </p:bgPr>
    </p:bg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2" name="Google Shape;462;p24"/>
          <p:cNvGrpSpPr/>
          <p:nvPr/>
        </p:nvGrpSpPr>
        <p:grpSpPr>
          <a:xfrm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id="463" name="Google Shape;463;p24"/>
            <p:cNvSpPr/>
            <p:nvPr/>
          </p:nvSpPr>
          <p:spPr>
            <a:xfrm>
              <a:off x="0" y="0"/>
              <a:ext cx="6982743" cy="6982743"/>
            </a:xfrm>
            <a:custGeom>
              <a:rect b="b" l="l" r="r" t="t"/>
              <a:pathLst>
                <a:path extrusionOk="0"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63000"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4" name="Google Shape;464;p24"/>
            <p:cNvSpPr/>
            <p:nvPr/>
          </p:nvSpPr>
          <p:spPr>
            <a:xfrm>
              <a:off x="6955551" y="0"/>
              <a:ext cx="6982743" cy="6982743"/>
            </a:xfrm>
            <a:custGeom>
              <a:rect b="b" l="l" r="r" t="t"/>
              <a:pathLst>
                <a:path extrusionOk="0"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63000"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5" name="Google Shape;465;p24"/>
            <p:cNvSpPr/>
            <p:nvPr/>
          </p:nvSpPr>
          <p:spPr>
            <a:xfrm>
              <a:off x="13883911" y="0"/>
              <a:ext cx="6982743" cy="6982743"/>
            </a:xfrm>
            <a:custGeom>
              <a:rect b="b" l="l" r="r" t="t"/>
              <a:pathLst>
                <a:path extrusionOk="0"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63000"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6" name="Google Shape;466;p24"/>
            <p:cNvSpPr/>
            <p:nvPr/>
          </p:nvSpPr>
          <p:spPr>
            <a:xfrm>
              <a:off x="20812271" y="0"/>
              <a:ext cx="6982743" cy="6982743"/>
            </a:xfrm>
            <a:custGeom>
              <a:rect b="b" l="l" r="r" t="t"/>
              <a:pathLst>
                <a:path extrusionOk="0"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63000"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7" name="Google Shape;467;p24"/>
            <p:cNvSpPr/>
            <p:nvPr/>
          </p:nvSpPr>
          <p:spPr>
            <a:xfrm>
              <a:off x="0" y="6958390"/>
              <a:ext cx="6982743" cy="6982743"/>
            </a:xfrm>
            <a:custGeom>
              <a:rect b="b" l="l" r="r" t="t"/>
              <a:pathLst>
                <a:path extrusionOk="0"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63000"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8" name="Google Shape;468;p24"/>
            <p:cNvSpPr/>
            <p:nvPr/>
          </p:nvSpPr>
          <p:spPr>
            <a:xfrm>
              <a:off x="6955551" y="6958390"/>
              <a:ext cx="6982743" cy="6982743"/>
            </a:xfrm>
            <a:custGeom>
              <a:rect b="b" l="l" r="r" t="t"/>
              <a:pathLst>
                <a:path extrusionOk="0"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63000"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9" name="Google Shape;469;p24"/>
            <p:cNvSpPr/>
            <p:nvPr/>
          </p:nvSpPr>
          <p:spPr>
            <a:xfrm>
              <a:off x="13883911" y="6958390"/>
              <a:ext cx="6982743" cy="6982743"/>
            </a:xfrm>
            <a:custGeom>
              <a:rect b="b" l="l" r="r" t="t"/>
              <a:pathLst>
                <a:path extrusionOk="0"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63000"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0" name="Google Shape;470;p24"/>
            <p:cNvSpPr/>
            <p:nvPr/>
          </p:nvSpPr>
          <p:spPr>
            <a:xfrm>
              <a:off x="20812271" y="6958390"/>
              <a:ext cx="6982743" cy="6982743"/>
            </a:xfrm>
            <a:custGeom>
              <a:rect b="b" l="l" r="r" t="t"/>
              <a:pathLst>
                <a:path extrusionOk="0"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63000"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71" name="Google Shape;471;p24"/>
          <p:cNvGrpSpPr/>
          <p:nvPr/>
        </p:nvGrpSpPr>
        <p:grpSpPr>
          <a:xfrm>
            <a:off x="980630" y="657693"/>
            <a:ext cx="16326741" cy="8862722"/>
            <a:chOff x="0" y="-241102"/>
            <a:chExt cx="21768988" cy="11816963"/>
          </a:xfrm>
        </p:grpSpPr>
        <p:grpSp>
          <p:nvGrpSpPr>
            <p:cNvPr id="472" name="Google Shape;472;p24"/>
            <p:cNvGrpSpPr/>
            <p:nvPr/>
          </p:nvGrpSpPr>
          <p:grpSpPr>
            <a:xfrm>
              <a:off x="128188" y="-93892"/>
              <a:ext cx="21640800" cy="11669753"/>
              <a:chOff x="0" y="-47625"/>
              <a:chExt cx="4274726" cy="2305136"/>
            </a:xfrm>
          </p:grpSpPr>
          <p:sp>
            <p:nvSpPr>
              <p:cNvPr id="473" name="Google Shape;473;p24"/>
              <p:cNvSpPr/>
              <p:nvPr/>
            </p:nvSpPr>
            <p:spPr>
              <a:xfrm>
                <a:off x="0" y="0"/>
                <a:ext cx="4274726" cy="2257511"/>
              </a:xfrm>
              <a:custGeom>
                <a:rect b="b" l="l" r="r" t="t"/>
                <a:pathLst>
                  <a:path extrusionOk="0"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628566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4" name="Google Shape;474;p24"/>
              <p:cNvSpPr txBox="1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71055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75" name="Google Shape;475;p24"/>
            <p:cNvGrpSpPr/>
            <p:nvPr/>
          </p:nvGrpSpPr>
          <p:grpSpPr>
            <a:xfrm>
              <a:off x="0" y="-241102"/>
              <a:ext cx="21640800" cy="11669753"/>
              <a:chOff x="0" y="-47625"/>
              <a:chExt cx="4274726" cy="2305136"/>
            </a:xfrm>
          </p:grpSpPr>
          <p:sp>
            <p:nvSpPr>
              <p:cNvPr id="476" name="Google Shape;476;p24"/>
              <p:cNvSpPr/>
              <p:nvPr/>
            </p:nvSpPr>
            <p:spPr>
              <a:xfrm>
                <a:off x="0" y="0"/>
                <a:ext cx="4274726" cy="2257511"/>
              </a:xfrm>
              <a:custGeom>
                <a:rect b="b" l="l" r="r" t="t"/>
                <a:pathLst>
                  <a:path extrusionOk="0"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cap="sq" cmpd="sng" w="19050">
                <a:solidFill>
                  <a:srgbClr val="658C6A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7" name="Google Shape;477;p24"/>
              <p:cNvSpPr txBox="1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71055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78" name="Google Shape;478;p24"/>
          <p:cNvSpPr/>
          <p:nvPr/>
        </p:nvSpPr>
        <p:spPr>
          <a:xfrm>
            <a:off x="15720211" y="231437"/>
            <a:ext cx="1136863" cy="1168738"/>
          </a:xfrm>
          <a:custGeom>
            <a:rect b="b" l="l" r="r" t="t"/>
            <a:pathLst>
              <a:path extrusionOk="0"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24"/>
          <p:cNvSpPr txBox="1"/>
          <p:nvPr/>
        </p:nvSpPr>
        <p:spPr>
          <a:xfrm>
            <a:off x="4041626" y="1388861"/>
            <a:ext cx="9784145" cy="1211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6999">
                <a:solidFill>
                  <a:srgbClr val="485849"/>
                </a:solidFill>
                <a:latin typeface="Arial"/>
                <a:ea typeface="Arial"/>
                <a:cs typeface="Arial"/>
                <a:sym typeface="Arial"/>
              </a:rPr>
              <a:t>구현 목표 - 차별성</a:t>
            </a:r>
            <a:endParaRPr sz="6999">
              <a:solidFill>
                <a:srgbClr val="4858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24"/>
          <p:cNvSpPr txBox="1"/>
          <p:nvPr/>
        </p:nvSpPr>
        <p:spPr>
          <a:xfrm>
            <a:off x="1822669" y="989012"/>
            <a:ext cx="2048120" cy="17927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0350">
                <a:solidFill>
                  <a:srgbClr val="8CB791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/>
          </a:p>
        </p:txBody>
      </p:sp>
      <p:sp>
        <p:nvSpPr>
          <p:cNvPr id="481" name="Google Shape;481;p24"/>
          <p:cNvSpPr txBox="1"/>
          <p:nvPr/>
        </p:nvSpPr>
        <p:spPr>
          <a:xfrm>
            <a:off x="14179928" y="3340829"/>
            <a:ext cx="722396" cy="922626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199">
                <a:solidFill>
                  <a:srgbClr val="FFFFFA"/>
                </a:solidFill>
                <a:latin typeface="Arial"/>
                <a:ea typeface="Arial"/>
                <a:cs typeface="Arial"/>
                <a:sym typeface="Arial"/>
              </a:rPr>
              <a:t>4차</a:t>
            </a:r>
            <a:endParaRPr/>
          </a:p>
        </p:txBody>
      </p:sp>
      <p:sp>
        <p:nvSpPr>
          <p:cNvPr id="482" name="Google Shape;482;p24"/>
          <p:cNvSpPr/>
          <p:nvPr/>
        </p:nvSpPr>
        <p:spPr>
          <a:xfrm>
            <a:off x="1634074" y="4247350"/>
            <a:ext cx="3098388" cy="2650147"/>
          </a:xfrm>
          <a:custGeom>
            <a:rect b="b" l="l" r="r" t="t"/>
            <a:pathLst>
              <a:path extrusionOk="0" h="1365236" w="1813523">
                <a:moveTo>
                  <a:pt x="116556" y="0"/>
                </a:moveTo>
                <a:lnTo>
                  <a:pt x="1696967" y="0"/>
                </a:lnTo>
                <a:cubicBezTo>
                  <a:pt x="1727879" y="0"/>
                  <a:pt x="1757526" y="12280"/>
                  <a:pt x="1779384" y="34138"/>
                </a:cubicBezTo>
                <a:cubicBezTo>
                  <a:pt x="1801243" y="55997"/>
                  <a:pt x="1813523" y="85643"/>
                  <a:pt x="1813523" y="116556"/>
                </a:cubicBezTo>
                <a:lnTo>
                  <a:pt x="1813523" y="1248680"/>
                </a:lnTo>
                <a:cubicBezTo>
                  <a:pt x="1813523" y="1313052"/>
                  <a:pt x="1761339" y="1365236"/>
                  <a:pt x="1696967" y="1365236"/>
                </a:cubicBezTo>
                <a:lnTo>
                  <a:pt x="116556" y="1365236"/>
                </a:lnTo>
                <a:cubicBezTo>
                  <a:pt x="52184" y="1365236"/>
                  <a:pt x="0" y="1313052"/>
                  <a:pt x="0" y="1248680"/>
                </a:cubicBezTo>
                <a:lnTo>
                  <a:pt x="0" y="116556"/>
                </a:lnTo>
                <a:cubicBezTo>
                  <a:pt x="0" y="52184"/>
                  <a:pt x="52184" y="0"/>
                  <a:pt x="116556" y="0"/>
                </a:cubicBezTo>
                <a:close/>
              </a:path>
            </a:pathLst>
          </a:custGeom>
          <a:solidFill>
            <a:srgbClr val="E3F0E5">
              <a:alpha val="30588"/>
            </a:srgbClr>
          </a:solidFill>
          <a:ln cap="rnd" cmpd="sng" w="19050">
            <a:solidFill>
              <a:srgbClr val="3E4047">
                <a:alpha val="3058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658C6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800">
                <a:solidFill>
                  <a:srgbClr val="658C6A"/>
                </a:solidFill>
                <a:latin typeface="Arial"/>
                <a:ea typeface="Arial"/>
                <a:cs typeface="Arial"/>
                <a:sym typeface="Arial"/>
              </a:rPr>
              <a:t>        팝업 기능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24"/>
          <p:cNvSpPr txBox="1"/>
          <p:nvPr/>
        </p:nvSpPr>
        <p:spPr>
          <a:xfrm>
            <a:off x="2235613" y="3374669"/>
            <a:ext cx="13720634" cy="5244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2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24"/>
          <p:cNvSpPr/>
          <p:nvPr/>
        </p:nvSpPr>
        <p:spPr>
          <a:xfrm>
            <a:off x="5342323" y="4247350"/>
            <a:ext cx="3098388" cy="2662839"/>
          </a:xfrm>
          <a:custGeom>
            <a:rect b="b" l="l" r="r" t="t"/>
            <a:pathLst>
              <a:path extrusionOk="0" h="1365236" w="1813523">
                <a:moveTo>
                  <a:pt x="116556" y="0"/>
                </a:moveTo>
                <a:lnTo>
                  <a:pt x="1696967" y="0"/>
                </a:lnTo>
                <a:cubicBezTo>
                  <a:pt x="1727879" y="0"/>
                  <a:pt x="1757526" y="12280"/>
                  <a:pt x="1779384" y="34138"/>
                </a:cubicBezTo>
                <a:cubicBezTo>
                  <a:pt x="1801243" y="55997"/>
                  <a:pt x="1813523" y="85643"/>
                  <a:pt x="1813523" y="116556"/>
                </a:cubicBezTo>
                <a:lnTo>
                  <a:pt x="1813523" y="1248680"/>
                </a:lnTo>
                <a:cubicBezTo>
                  <a:pt x="1813523" y="1313052"/>
                  <a:pt x="1761339" y="1365236"/>
                  <a:pt x="1696967" y="1365236"/>
                </a:cubicBezTo>
                <a:lnTo>
                  <a:pt x="116556" y="1365236"/>
                </a:lnTo>
                <a:cubicBezTo>
                  <a:pt x="52184" y="1365236"/>
                  <a:pt x="0" y="1313052"/>
                  <a:pt x="0" y="1248680"/>
                </a:cubicBezTo>
                <a:lnTo>
                  <a:pt x="0" y="116556"/>
                </a:lnTo>
                <a:cubicBezTo>
                  <a:pt x="0" y="52184"/>
                  <a:pt x="52184" y="0"/>
                  <a:pt x="116556" y="0"/>
                </a:cubicBezTo>
                <a:close/>
              </a:path>
            </a:pathLst>
          </a:custGeom>
          <a:solidFill>
            <a:srgbClr val="E3F0E5">
              <a:alpha val="30588"/>
            </a:srgbClr>
          </a:solidFill>
          <a:ln cap="rnd" cmpd="sng" w="19050">
            <a:solidFill>
              <a:srgbClr val="3E4047">
                <a:alpha val="3058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658C6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800">
                <a:solidFill>
                  <a:srgbClr val="658C6A"/>
                </a:solidFill>
                <a:latin typeface="Arial"/>
                <a:ea typeface="Arial"/>
                <a:cs typeface="Arial"/>
                <a:sym typeface="Arial"/>
              </a:rPr>
              <a:t>        메제시함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24"/>
          <p:cNvSpPr/>
          <p:nvPr/>
        </p:nvSpPr>
        <p:spPr>
          <a:xfrm>
            <a:off x="9050572" y="4247350"/>
            <a:ext cx="3098388" cy="2687110"/>
          </a:xfrm>
          <a:custGeom>
            <a:rect b="b" l="l" r="r" t="t"/>
            <a:pathLst>
              <a:path extrusionOk="0" h="1365236" w="1813523">
                <a:moveTo>
                  <a:pt x="116556" y="0"/>
                </a:moveTo>
                <a:lnTo>
                  <a:pt x="1696967" y="0"/>
                </a:lnTo>
                <a:cubicBezTo>
                  <a:pt x="1727879" y="0"/>
                  <a:pt x="1757526" y="12280"/>
                  <a:pt x="1779384" y="34138"/>
                </a:cubicBezTo>
                <a:cubicBezTo>
                  <a:pt x="1801243" y="55997"/>
                  <a:pt x="1813523" y="85643"/>
                  <a:pt x="1813523" y="116556"/>
                </a:cubicBezTo>
                <a:lnTo>
                  <a:pt x="1813523" y="1248680"/>
                </a:lnTo>
                <a:cubicBezTo>
                  <a:pt x="1813523" y="1313052"/>
                  <a:pt x="1761339" y="1365236"/>
                  <a:pt x="1696967" y="1365236"/>
                </a:cubicBezTo>
                <a:lnTo>
                  <a:pt x="116556" y="1365236"/>
                </a:lnTo>
                <a:cubicBezTo>
                  <a:pt x="52184" y="1365236"/>
                  <a:pt x="0" y="1313052"/>
                  <a:pt x="0" y="1248680"/>
                </a:cubicBezTo>
                <a:lnTo>
                  <a:pt x="0" y="116556"/>
                </a:lnTo>
                <a:cubicBezTo>
                  <a:pt x="0" y="52184"/>
                  <a:pt x="52184" y="0"/>
                  <a:pt x="116556" y="0"/>
                </a:cubicBezTo>
                <a:close/>
              </a:path>
            </a:pathLst>
          </a:custGeom>
          <a:solidFill>
            <a:srgbClr val="E3F0E5">
              <a:alpha val="30588"/>
            </a:srgbClr>
          </a:solidFill>
          <a:ln cap="rnd" cmpd="sng" w="19050">
            <a:solidFill>
              <a:srgbClr val="3E4047">
                <a:alpha val="3058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800">
                <a:solidFill>
                  <a:srgbClr val="658C6A"/>
                </a:solidFill>
                <a:latin typeface="Arial"/>
                <a:ea typeface="Arial"/>
                <a:cs typeface="Arial"/>
                <a:sym typeface="Arial"/>
              </a:rPr>
              <a:t>          </a:t>
            </a:r>
            <a:endParaRPr sz="2800">
              <a:solidFill>
                <a:srgbClr val="658C6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800">
                <a:solidFill>
                  <a:srgbClr val="658C6A"/>
                </a:solidFill>
                <a:latin typeface="Arial"/>
                <a:ea typeface="Arial"/>
                <a:cs typeface="Arial"/>
                <a:sym typeface="Arial"/>
              </a:rPr>
              <a:t>        재미요소</a:t>
            </a:r>
            <a:r>
              <a:rPr lang="ko-K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24"/>
          <p:cNvSpPr/>
          <p:nvPr/>
        </p:nvSpPr>
        <p:spPr>
          <a:xfrm>
            <a:off x="12758822" y="4247350"/>
            <a:ext cx="3098388" cy="2687109"/>
          </a:xfrm>
          <a:custGeom>
            <a:rect b="b" l="l" r="r" t="t"/>
            <a:pathLst>
              <a:path extrusionOk="0" h="1365236" w="1813523">
                <a:moveTo>
                  <a:pt x="116556" y="0"/>
                </a:moveTo>
                <a:lnTo>
                  <a:pt x="1696967" y="0"/>
                </a:lnTo>
                <a:cubicBezTo>
                  <a:pt x="1727879" y="0"/>
                  <a:pt x="1757526" y="12280"/>
                  <a:pt x="1779384" y="34138"/>
                </a:cubicBezTo>
                <a:cubicBezTo>
                  <a:pt x="1801243" y="55997"/>
                  <a:pt x="1813523" y="85643"/>
                  <a:pt x="1813523" y="116556"/>
                </a:cubicBezTo>
                <a:lnTo>
                  <a:pt x="1813523" y="1248680"/>
                </a:lnTo>
                <a:cubicBezTo>
                  <a:pt x="1813523" y="1313052"/>
                  <a:pt x="1761339" y="1365236"/>
                  <a:pt x="1696967" y="1365236"/>
                </a:cubicBezTo>
                <a:lnTo>
                  <a:pt x="116556" y="1365236"/>
                </a:lnTo>
                <a:cubicBezTo>
                  <a:pt x="52184" y="1365236"/>
                  <a:pt x="0" y="1313052"/>
                  <a:pt x="0" y="1248680"/>
                </a:cubicBezTo>
                <a:lnTo>
                  <a:pt x="0" y="116556"/>
                </a:lnTo>
                <a:cubicBezTo>
                  <a:pt x="0" y="52184"/>
                  <a:pt x="52184" y="0"/>
                  <a:pt x="116556" y="0"/>
                </a:cubicBezTo>
                <a:close/>
              </a:path>
            </a:pathLst>
          </a:custGeom>
          <a:solidFill>
            <a:srgbClr val="E3F0E5">
              <a:alpha val="30588"/>
            </a:srgbClr>
          </a:solidFill>
          <a:ln cap="rnd" cmpd="sng" w="19050">
            <a:solidFill>
              <a:srgbClr val="3E4047">
                <a:alpha val="3058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800">
                <a:solidFill>
                  <a:srgbClr val="658C6A"/>
                </a:solidFill>
                <a:latin typeface="Arial"/>
                <a:ea typeface="Arial"/>
                <a:cs typeface="Arial"/>
                <a:sym typeface="Arial"/>
              </a:rPr>
              <a:t>      마이페이지</a:t>
            </a:r>
            <a:endParaRPr sz="2800">
              <a:solidFill>
                <a:srgbClr val="658C6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800">
                <a:solidFill>
                  <a:srgbClr val="658C6A"/>
                </a:solidFill>
                <a:latin typeface="Arial"/>
                <a:ea typeface="Arial"/>
                <a:cs typeface="Arial"/>
                <a:sym typeface="Arial"/>
              </a:rPr>
              <a:t>        기능강화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24"/>
          <p:cNvSpPr txBox="1"/>
          <p:nvPr/>
        </p:nvSpPr>
        <p:spPr>
          <a:xfrm>
            <a:off x="5500875" y="5404993"/>
            <a:ext cx="2882520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마이페이지 내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개인 메시지함을 추가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댓글 알림, 관리자 메시지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수신이 가능하도록 구현</a:t>
            </a:r>
            <a:endParaRPr/>
          </a:p>
        </p:txBody>
      </p:sp>
      <p:sp>
        <p:nvSpPr>
          <p:cNvPr id="488" name="Google Shape;488;p24"/>
          <p:cNvSpPr txBox="1"/>
          <p:nvPr/>
        </p:nvSpPr>
        <p:spPr>
          <a:xfrm>
            <a:off x="1782059" y="5480068"/>
            <a:ext cx="288252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메인페이지 접속 시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인기글과 신제품에 대한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팝업창을 띄움</a:t>
            </a:r>
            <a:endParaRPr/>
          </a:p>
        </p:txBody>
      </p:sp>
      <p:sp>
        <p:nvSpPr>
          <p:cNvPr id="489" name="Google Shape;489;p24"/>
          <p:cNvSpPr txBox="1"/>
          <p:nvPr/>
        </p:nvSpPr>
        <p:spPr>
          <a:xfrm>
            <a:off x="9195050" y="5480068"/>
            <a:ext cx="288252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퀴즈형 테스트 페이지를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제공하여 사용자 참여 유도</a:t>
            </a:r>
            <a:endParaRPr/>
          </a:p>
        </p:txBody>
      </p:sp>
      <p:sp>
        <p:nvSpPr>
          <p:cNvPr id="490" name="Google Shape;490;p24"/>
          <p:cNvSpPr txBox="1"/>
          <p:nvPr/>
        </p:nvSpPr>
        <p:spPr>
          <a:xfrm>
            <a:off x="13095184" y="5355138"/>
            <a:ext cx="2425664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단순 회원 정보 확인과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수정을 넘어 주문내역,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반려동물 프로필 관리.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관련 상품/글 저장 등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다양한 기능 통합 제공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5" name="Google Shape;495;p25"/>
          <p:cNvGrpSpPr/>
          <p:nvPr/>
        </p:nvGrpSpPr>
        <p:grpSpPr>
          <a:xfrm>
            <a:off x="-1489194" y="-84425"/>
            <a:ext cx="20846261" cy="10455849"/>
            <a:chOff x="0" y="0"/>
            <a:chExt cx="27795014" cy="13941133"/>
          </a:xfrm>
        </p:grpSpPr>
        <p:sp>
          <p:nvSpPr>
            <p:cNvPr id="496" name="Google Shape;496;p25"/>
            <p:cNvSpPr/>
            <p:nvPr/>
          </p:nvSpPr>
          <p:spPr>
            <a:xfrm>
              <a:off x="0" y="0"/>
              <a:ext cx="6982743" cy="6982743"/>
            </a:xfrm>
            <a:custGeom>
              <a:rect b="b" l="l" r="r" t="t"/>
              <a:pathLst>
                <a:path extrusionOk="0"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63000"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7" name="Google Shape;497;p25"/>
            <p:cNvSpPr/>
            <p:nvPr/>
          </p:nvSpPr>
          <p:spPr>
            <a:xfrm>
              <a:off x="6955551" y="0"/>
              <a:ext cx="6982743" cy="6982743"/>
            </a:xfrm>
            <a:custGeom>
              <a:rect b="b" l="l" r="r" t="t"/>
              <a:pathLst>
                <a:path extrusionOk="0"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63000"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8" name="Google Shape;498;p25"/>
            <p:cNvSpPr/>
            <p:nvPr/>
          </p:nvSpPr>
          <p:spPr>
            <a:xfrm>
              <a:off x="13883911" y="0"/>
              <a:ext cx="6982743" cy="6982743"/>
            </a:xfrm>
            <a:custGeom>
              <a:rect b="b" l="l" r="r" t="t"/>
              <a:pathLst>
                <a:path extrusionOk="0"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63000"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9" name="Google Shape;499;p25"/>
            <p:cNvSpPr/>
            <p:nvPr/>
          </p:nvSpPr>
          <p:spPr>
            <a:xfrm>
              <a:off x="20812271" y="0"/>
              <a:ext cx="6982743" cy="6982743"/>
            </a:xfrm>
            <a:custGeom>
              <a:rect b="b" l="l" r="r" t="t"/>
              <a:pathLst>
                <a:path extrusionOk="0"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63000"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0" name="Google Shape;500;p25"/>
            <p:cNvSpPr/>
            <p:nvPr/>
          </p:nvSpPr>
          <p:spPr>
            <a:xfrm>
              <a:off x="0" y="6958390"/>
              <a:ext cx="6982743" cy="6982743"/>
            </a:xfrm>
            <a:custGeom>
              <a:rect b="b" l="l" r="r" t="t"/>
              <a:pathLst>
                <a:path extrusionOk="0"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63000"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1" name="Google Shape;501;p25"/>
            <p:cNvSpPr/>
            <p:nvPr/>
          </p:nvSpPr>
          <p:spPr>
            <a:xfrm>
              <a:off x="6955551" y="6958390"/>
              <a:ext cx="6982743" cy="6982743"/>
            </a:xfrm>
            <a:custGeom>
              <a:rect b="b" l="l" r="r" t="t"/>
              <a:pathLst>
                <a:path extrusionOk="0"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63000"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2" name="Google Shape;502;p25"/>
            <p:cNvSpPr/>
            <p:nvPr/>
          </p:nvSpPr>
          <p:spPr>
            <a:xfrm>
              <a:off x="13883911" y="6958390"/>
              <a:ext cx="6982743" cy="6982743"/>
            </a:xfrm>
            <a:custGeom>
              <a:rect b="b" l="l" r="r" t="t"/>
              <a:pathLst>
                <a:path extrusionOk="0"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63000"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3" name="Google Shape;503;p25"/>
            <p:cNvSpPr/>
            <p:nvPr/>
          </p:nvSpPr>
          <p:spPr>
            <a:xfrm>
              <a:off x="20812271" y="6958390"/>
              <a:ext cx="6982743" cy="6982743"/>
            </a:xfrm>
            <a:custGeom>
              <a:rect b="b" l="l" r="r" t="t"/>
              <a:pathLst>
                <a:path extrusionOk="0"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63000"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04" name="Google Shape;504;p25"/>
          <p:cNvGrpSpPr/>
          <p:nvPr/>
        </p:nvGrpSpPr>
        <p:grpSpPr>
          <a:xfrm>
            <a:off x="980629" y="652538"/>
            <a:ext cx="16326741" cy="8862722"/>
            <a:chOff x="0" y="-241102"/>
            <a:chExt cx="21768988" cy="11816963"/>
          </a:xfrm>
        </p:grpSpPr>
        <p:grpSp>
          <p:nvGrpSpPr>
            <p:cNvPr id="505" name="Google Shape;505;p25"/>
            <p:cNvGrpSpPr/>
            <p:nvPr/>
          </p:nvGrpSpPr>
          <p:grpSpPr>
            <a:xfrm>
              <a:off x="128188" y="-93892"/>
              <a:ext cx="21640800" cy="11669753"/>
              <a:chOff x="0" y="-47625"/>
              <a:chExt cx="4274726" cy="2305136"/>
            </a:xfrm>
          </p:grpSpPr>
          <p:sp>
            <p:nvSpPr>
              <p:cNvPr id="506" name="Google Shape;506;p25"/>
              <p:cNvSpPr/>
              <p:nvPr/>
            </p:nvSpPr>
            <p:spPr>
              <a:xfrm>
                <a:off x="0" y="0"/>
                <a:ext cx="4274726" cy="2257511"/>
              </a:xfrm>
              <a:custGeom>
                <a:rect b="b" l="l" r="r" t="t"/>
                <a:pathLst>
                  <a:path extrusionOk="0"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628566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7" name="Google Shape;507;p25"/>
              <p:cNvSpPr txBox="1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71055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08" name="Google Shape;508;p25"/>
            <p:cNvGrpSpPr/>
            <p:nvPr/>
          </p:nvGrpSpPr>
          <p:grpSpPr>
            <a:xfrm>
              <a:off x="0" y="-241102"/>
              <a:ext cx="21640800" cy="11669753"/>
              <a:chOff x="0" y="-47625"/>
              <a:chExt cx="4274726" cy="2305136"/>
            </a:xfrm>
          </p:grpSpPr>
          <p:sp>
            <p:nvSpPr>
              <p:cNvPr id="509" name="Google Shape;509;p25"/>
              <p:cNvSpPr/>
              <p:nvPr/>
            </p:nvSpPr>
            <p:spPr>
              <a:xfrm>
                <a:off x="0" y="0"/>
                <a:ext cx="4274726" cy="2257511"/>
              </a:xfrm>
              <a:custGeom>
                <a:rect b="b" l="l" r="r" t="t"/>
                <a:pathLst>
                  <a:path extrusionOk="0"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cap="sq" cmpd="sng" w="19050">
                <a:solidFill>
                  <a:srgbClr val="658C6A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0" name="Google Shape;510;p25"/>
              <p:cNvSpPr txBox="1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71055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511" name="Google Shape;511;p25"/>
          <p:cNvSpPr/>
          <p:nvPr/>
        </p:nvSpPr>
        <p:spPr>
          <a:xfrm>
            <a:off x="15720211" y="231437"/>
            <a:ext cx="1136863" cy="1168738"/>
          </a:xfrm>
          <a:custGeom>
            <a:rect b="b" l="l" r="r" t="t"/>
            <a:pathLst>
              <a:path extrusionOk="0"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25"/>
          <p:cNvSpPr txBox="1"/>
          <p:nvPr/>
        </p:nvSpPr>
        <p:spPr>
          <a:xfrm>
            <a:off x="4041626" y="1388861"/>
            <a:ext cx="9784145" cy="1211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6999">
                <a:solidFill>
                  <a:srgbClr val="485849"/>
                </a:solidFill>
                <a:latin typeface="Arial"/>
                <a:ea typeface="Arial"/>
                <a:cs typeface="Arial"/>
                <a:sym typeface="Arial"/>
              </a:rPr>
              <a:t>핵심기능 코드 리뷰</a:t>
            </a:r>
            <a:endParaRPr sz="6999">
              <a:solidFill>
                <a:srgbClr val="4858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p25"/>
          <p:cNvSpPr txBox="1"/>
          <p:nvPr/>
        </p:nvSpPr>
        <p:spPr>
          <a:xfrm>
            <a:off x="1822669" y="989012"/>
            <a:ext cx="2048120" cy="17927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0350">
                <a:solidFill>
                  <a:srgbClr val="8CB791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/>
          </a:p>
        </p:txBody>
      </p:sp>
      <p:sp>
        <p:nvSpPr>
          <p:cNvPr id="514" name="Google Shape;514;p25"/>
          <p:cNvSpPr txBox="1"/>
          <p:nvPr/>
        </p:nvSpPr>
        <p:spPr>
          <a:xfrm>
            <a:off x="14179928" y="3340829"/>
            <a:ext cx="722396" cy="922626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199">
                <a:solidFill>
                  <a:srgbClr val="FFFFFA"/>
                </a:solidFill>
                <a:latin typeface="Arial"/>
                <a:ea typeface="Arial"/>
                <a:cs typeface="Arial"/>
                <a:sym typeface="Arial"/>
              </a:rPr>
              <a:t>4차</a:t>
            </a:r>
            <a:endParaRPr/>
          </a:p>
        </p:txBody>
      </p:sp>
      <p:sp>
        <p:nvSpPr>
          <p:cNvPr id="515" name="Google Shape;515;p25"/>
          <p:cNvSpPr txBox="1"/>
          <p:nvPr/>
        </p:nvSpPr>
        <p:spPr>
          <a:xfrm>
            <a:off x="2235613" y="3374669"/>
            <a:ext cx="13720634" cy="5244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2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16" name="Google Shape;516;p25"/>
          <p:cNvGrpSpPr/>
          <p:nvPr/>
        </p:nvGrpSpPr>
        <p:grpSpPr>
          <a:xfrm>
            <a:off x="1836482" y="4248255"/>
            <a:ext cx="3098388" cy="2650147"/>
            <a:chOff x="1634074" y="4247350"/>
            <a:chExt cx="3098388" cy="2650147"/>
          </a:xfrm>
        </p:grpSpPr>
        <p:sp>
          <p:nvSpPr>
            <p:cNvPr id="517" name="Google Shape;517;p25"/>
            <p:cNvSpPr/>
            <p:nvPr/>
          </p:nvSpPr>
          <p:spPr>
            <a:xfrm>
              <a:off x="1634074" y="4247350"/>
              <a:ext cx="3098388" cy="2650147"/>
            </a:xfrm>
            <a:custGeom>
              <a:rect b="b" l="l" r="r" t="t"/>
              <a:pathLst>
                <a:path extrusionOk="0" h="1365236" w="1813523">
                  <a:moveTo>
                    <a:pt x="116556" y="0"/>
                  </a:moveTo>
                  <a:lnTo>
                    <a:pt x="1696967" y="0"/>
                  </a:lnTo>
                  <a:cubicBezTo>
                    <a:pt x="1727879" y="0"/>
                    <a:pt x="1757526" y="12280"/>
                    <a:pt x="1779384" y="34138"/>
                  </a:cubicBezTo>
                  <a:cubicBezTo>
                    <a:pt x="1801243" y="55997"/>
                    <a:pt x="1813523" y="85643"/>
                    <a:pt x="1813523" y="116556"/>
                  </a:cubicBezTo>
                  <a:lnTo>
                    <a:pt x="1813523" y="1248680"/>
                  </a:lnTo>
                  <a:cubicBezTo>
                    <a:pt x="1813523" y="1313052"/>
                    <a:pt x="1761339" y="1365236"/>
                    <a:pt x="1696967" y="1365236"/>
                  </a:cubicBezTo>
                  <a:lnTo>
                    <a:pt x="116556" y="1365236"/>
                  </a:lnTo>
                  <a:cubicBezTo>
                    <a:pt x="52184" y="1365236"/>
                    <a:pt x="0" y="1313052"/>
                    <a:pt x="0" y="1248680"/>
                  </a:cubicBezTo>
                  <a:lnTo>
                    <a:pt x="0" y="116556"/>
                  </a:lnTo>
                  <a:cubicBezTo>
                    <a:pt x="0" y="52184"/>
                    <a:pt x="52184" y="0"/>
                    <a:pt x="116556" y="0"/>
                  </a:cubicBezTo>
                  <a:close/>
                </a:path>
              </a:pathLst>
            </a:custGeom>
            <a:solidFill>
              <a:srgbClr val="E3F0E5">
                <a:alpha val="30588"/>
              </a:srgbClr>
            </a:solidFill>
            <a:ln cap="rnd" cmpd="sng" w="19050">
              <a:solidFill>
                <a:srgbClr val="3E4047">
                  <a:alpha val="30588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rgbClr val="658C6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2800">
                  <a:solidFill>
                    <a:srgbClr val="658C6A"/>
                  </a:solidFill>
                  <a:latin typeface="Arial"/>
                  <a:ea typeface="Arial"/>
                  <a:cs typeface="Arial"/>
                  <a:sym typeface="Arial"/>
                </a:rPr>
                <a:t>  쇼핑몰 메인메뉴</a:t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8" name="Google Shape;518;p25"/>
            <p:cNvSpPr txBox="1"/>
            <p:nvPr/>
          </p:nvSpPr>
          <p:spPr>
            <a:xfrm>
              <a:off x="2285029" y="5466052"/>
              <a:ext cx="2190269" cy="12003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AutoNum type="arabicPeriod"/>
              </a:pPr>
              <a:r>
                <a:rPr lang="ko-KR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상품 리스트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AutoNum type="arabicPeriod"/>
              </a:pPr>
              <a:r>
                <a:rPr lang="ko-KR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리뷰 평점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AutoNum type="arabicPeriod"/>
              </a:pPr>
              <a:r>
                <a:rPr lang="ko-KR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리뷰 개수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AutoNum type="arabicPeriod"/>
              </a:pPr>
              <a:r>
                <a:rPr lang="ko-KR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상품 검색 기능</a:t>
              </a:r>
              <a:endParaRPr/>
            </a:p>
          </p:txBody>
        </p:sp>
      </p:grpSp>
      <p:grpSp>
        <p:nvGrpSpPr>
          <p:cNvPr id="519" name="Google Shape;519;p25"/>
          <p:cNvGrpSpPr/>
          <p:nvPr/>
        </p:nvGrpSpPr>
        <p:grpSpPr>
          <a:xfrm>
            <a:off x="5617746" y="4248255"/>
            <a:ext cx="3316191" cy="2650147"/>
            <a:chOff x="5415338" y="4247350"/>
            <a:chExt cx="3316191" cy="2650147"/>
          </a:xfrm>
        </p:grpSpPr>
        <p:sp>
          <p:nvSpPr>
            <p:cNvPr id="520" name="Google Shape;520;p25"/>
            <p:cNvSpPr/>
            <p:nvPr/>
          </p:nvSpPr>
          <p:spPr>
            <a:xfrm>
              <a:off x="5415338" y="4247350"/>
              <a:ext cx="3098388" cy="2650147"/>
            </a:xfrm>
            <a:custGeom>
              <a:rect b="b" l="l" r="r" t="t"/>
              <a:pathLst>
                <a:path extrusionOk="0" h="1365236" w="1813523">
                  <a:moveTo>
                    <a:pt x="116556" y="0"/>
                  </a:moveTo>
                  <a:lnTo>
                    <a:pt x="1696967" y="0"/>
                  </a:lnTo>
                  <a:cubicBezTo>
                    <a:pt x="1727879" y="0"/>
                    <a:pt x="1757526" y="12280"/>
                    <a:pt x="1779384" y="34138"/>
                  </a:cubicBezTo>
                  <a:cubicBezTo>
                    <a:pt x="1801243" y="55997"/>
                    <a:pt x="1813523" y="85643"/>
                    <a:pt x="1813523" y="116556"/>
                  </a:cubicBezTo>
                  <a:lnTo>
                    <a:pt x="1813523" y="1248680"/>
                  </a:lnTo>
                  <a:cubicBezTo>
                    <a:pt x="1813523" y="1313052"/>
                    <a:pt x="1761339" y="1365236"/>
                    <a:pt x="1696967" y="1365236"/>
                  </a:cubicBezTo>
                  <a:lnTo>
                    <a:pt x="116556" y="1365236"/>
                  </a:lnTo>
                  <a:cubicBezTo>
                    <a:pt x="52184" y="1365236"/>
                    <a:pt x="0" y="1313052"/>
                    <a:pt x="0" y="1248680"/>
                  </a:cubicBezTo>
                  <a:lnTo>
                    <a:pt x="0" y="116556"/>
                  </a:lnTo>
                  <a:cubicBezTo>
                    <a:pt x="0" y="52184"/>
                    <a:pt x="52184" y="0"/>
                    <a:pt x="116556" y="0"/>
                  </a:cubicBezTo>
                  <a:close/>
                </a:path>
              </a:pathLst>
            </a:custGeom>
            <a:solidFill>
              <a:srgbClr val="E3F0E5">
                <a:alpha val="30588"/>
              </a:srgbClr>
            </a:solidFill>
            <a:ln cap="rnd" cmpd="sng" w="19050">
              <a:solidFill>
                <a:srgbClr val="3E4047">
                  <a:alpha val="30588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rgbClr val="658C6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2800">
                  <a:solidFill>
                    <a:srgbClr val="658C6A"/>
                  </a:solidFill>
                  <a:latin typeface="Arial"/>
                  <a:ea typeface="Arial"/>
                  <a:cs typeface="Arial"/>
                  <a:sym typeface="Arial"/>
                </a:rPr>
                <a:t>    장바구니 추가</a:t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1" name="Google Shape;521;p25"/>
            <p:cNvSpPr txBox="1"/>
            <p:nvPr/>
          </p:nvSpPr>
          <p:spPr>
            <a:xfrm>
              <a:off x="5420166" y="5488734"/>
              <a:ext cx="3311363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AutoNum type="arabicPeriod"/>
              </a:pPr>
              <a:r>
                <a:rPr lang="ko-KR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장바구니 추가 후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AutoNum type="arabicPeriod"/>
              </a:pPr>
              <a:r>
                <a:rPr lang="ko-KR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장바구니로 이동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AutoNum type="arabicPeriod"/>
              </a:pPr>
              <a:r>
                <a:rPr lang="ko-KR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쇼핑몰 메인페이지로 이동</a:t>
              </a:r>
              <a:endParaRPr/>
            </a:p>
          </p:txBody>
        </p:sp>
      </p:grpSp>
      <p:grpSp>
        <p:nvGrpSpPr>
          <p:cNvPr id="522" name="Google Shape;522;p25"/>
          <p:cNvGrpSpPr/>
          <p:nvPr/>
        </p:nvGrpSpPr>
        <p:grpSpPr>
          <a:xfrm>
            <a:off x="9337886" y="4249160"/>
            <a:ext cx="4519101" cy="2650147"/>
            <a:chOff x="8940598" y="4248255"/>
            <a:chExt cx="4519101" cy="2650147"/>
          </a:xfrm>
        </p:grpSpPr>
        <p:sp>
          <p:nvSpPr>
            <p:cNvPr id="523" name="Google Shape;523;p25"/>
            <p:cNvSpPr/>
            <p:nvPr/>
          </p:nvSpPr>
          <p:spPr>
            <a:xfrm>
              <a:off x="8940598" y="4248255"/>
              <a:ext cx="3098388" cy="2650147"/>
            </a:xfrm>
            <a:custGeom>
              <a:rect b="b" l="l" r="r" t="t"/>
              <a:pathLst>
                <a:path extrusionOk="0" h="1365236" w="1813523">
                  <a:moveTo>
                    <a:pt x="116556" y="0"/>
                  </a:moveTo>
                  <a:lnTo>
                    <a:pt x="1696967" y="0"/>
                  </a:lnTo>
                  <a:cubicBezTo>
                    <a:pt x="1727879" y="0"/>
                    <a:pt x="1757526" y="12280"/>
                    <a:pt x="1779384" y="34138"/>
                  </a:cubicBezTo>
                  <a:cubicBezTo>
                    <a:pt x="1801243" y="55997"/>
                    <a:pt x="1813523" y="85643"/>
                    <a:pt x="1813523" y="116556"/>
                  </a:cubicBezTo>
                  <a:lnTo>
                    <a:pt x="1813523" y="1248680"/>
                  </a:lnTo>
                  <a:cubicBezTo>
                    <a:pt x="1813523" y="1313052"/>
                    <a:pt x="1761339" y="1365236"/>
                    <a:pt x="1696967" y="1365236"/>
                  </a:cubicBezTo>
                  <a:lnTo>
                    <a:pt x="116556" y="1365236"/>
                  </a:lnTo>
                  <a:cubicBezTo>
                    <a:pt x="52184" y="1365236"/>
                    <a:pt x="0" y="1313052"/>
                    <a:pt x="0" y="1248680"/>
                  </a:cubicBezTo>
                  <a:lnTo>
                    <a:pt x="0" y="116556"/>
                  </a:lnTo>
                  <a:cubicBezTo>
                    <a:pt x="0" y="52184"/>
                    <a:pt x="52184" y="0"/>
                    <a:pt x="116556" y="0"/>
                  </a:cubicBezTo>
                  <a:close/>
                </a:path>
              </a:pathLst>
            </a:custGeom>
            <a:solidFill>
              <a:srgbClr val="E3F0E5">
                <a:alpha val="30588"/>
              </a:srgbClr>
            </a:solidFill>
            <a:ln cap="rnd" cmpd="sng" w="19050">
              <a:solidFill>
                <a:srgbClr val="3E4047">
                  <a:alpha val="30588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2800">
                  <a:solidFill>
                    <a:srgbClr val="658C6A"/>
                  </a:solidFill>
                  <a:latin typeface="Arial"/>
                  <a:ea typeface="Arial"/>
                  <a:cs typeface="Arial"/>
                  <a:sym typeface="Arial"/>
                </a:rPr>
                <a:t>     리뷰 게시판,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2800">
                  <a:solidFill>
                    <a:srgbClr val="658C6A"/>
                  </a:solidFill>
                  <a:latin typeface="Arial"/>
                  <a:ea typeface="Arial"/>
                  <a:cs typeface="Arial"/>
                  <a:sym typeface="Arial"/>
                </a:rPr>
                <a:t>       리뷰 작성 </a:t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4" name="Google Shape;524;p25"/>
            <p:cNvSpPr txBox="1"/>
            <p:nvPr/>
          </p:nvSpPr>
          <p:spPr>
            <a:xfrm>
              <a:off x="9226157" y="5427930"/>
              <a:ext cx="4233542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AutoNum type="arabicPeriod"/>
              </a:pPr>
              <a:r>
                <a:rPr lang="ko-KR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조건에 맞는 경우 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리뷰 작성 버튼 보이기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2. 리뷰 작성</a:t>
              </a:r>
              <a:endParaRPr/>
            </a:p>
          </p:txBody>
        </p:sp>
      </p:grpSp>
      <p:grpSp>
        <p:nvGrpSpPr>
          <p:cNvPr id="525" name="Google Shape;525;p25"/>
          <p:cNvGrpSpPr/>
          <p:nvPr/>
        </p:nvGrpSpPr>
        <p:grpSpPr>
          <a:xfrm>
            <a:off x="13124975" y="4242209"/>
            <a:ext cx="3098388" cy="2650147"/>
            <a:chOff x="12922567" y="4241304"/>
            <a:chExt cx="3098388" cy="2650147"/>
          </a:xfrm>
        </p:grpSpPr>
        <p:sp>
          <p:nvSpPr>
            <p:cNvPr id="526" name="Google Shape;526;p25"/>
            <p:cNvSpPr/>
            <p:nvPr/>
          </p:nvSpPr>
          <p:spPr>
            <a:xfrm>
              <a:off x="12922567" y="4241304"/>
              <a:ext cx="3098388" cy="2650147"/>
            </a:xfrm>
            <a:custGeom>
              <a:rect b="b" l="l" r="r" t="t"/>
              <a:pathLst>
                <a:path extrusionOk="0" h="1365236" w="1813523">
                  <a:moveTo>
                    <a:pt x="116556" y="0"/>
                  </a:moveTo>
                  <a:lnTo>
                    <a:pt x="1696967" y="0"/>
                  </a:lnTo>
                  <a:cubicBezTo>
                    <a:pt x="1727879" y="0"/>
                    <a:pt x="1757526" y="12280"/>
                    <a:pt x="1779384" y="34138"/>
                  </a:cubicBezTo>
                  <a:cubicBezTo>
                    <a:pt x="1801243" y="55997"/>
                    <a:pt x="1813523" y="85643"/>
                    <a:pt x="1813523" y="116556"/>
                  </a:cubicBezTo>
                  <a:lnTo>
                    <a:pt x="1813523" y="1248680"/>
                  </a:lnTo>
                  <a:cubicBezTo>
                    <a:pt x="1813523" y="1313052"/>
                    <a:pt x="1761339" y="1365236"/>
                    <a:pt x="1696967" y="1365236"/>
                  </a:cubicBezTo>
                  <a:lnTo>
                    <a:pt x="116556" y="1365236"/>
                  </a:lnTo>
                  <a:cubicBezTo>
                    <a:pt x="52184" y="1365236"/>
                    <a:pt x="0" y="1313052"/>
                    <a:pt x="0" y="1248680"/>
                  </a:cubicBezTo>
                  <a:lnTo>
                    <a:pt x="0" y="116556"/>
                  </a:lnTo>
                  <a:cubicBezTo>
                    <a:pt x="0" y="52184"/>
                    <a:pt x="52184" y="0"/>
                    <a:pt x="116556" y="0"/>
                  </a:cubicBezTo>
                  <a:close/>
                </a:path>
              </a:pathLst>
            </a:custGeom>
            <a:solidFill>
              <a:srgbClr val="E3F0E5">
                <a:alpha val="30588"/>
              </a:srgbClr>
            </a:solidFill>
            <a:ln cap="rnd" cmpd="sng" w="19050">
              <a:solidFill>
                <a:srgbClr val="3E4047">
                  <a:alpha val="30588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2800">
                  <a:solidFill>
                    <a:srgbClr val="658C6A"/>
                  </a:solidFill>
                  <a:latin typeface="Arial"/>
                  <a:ea typeface="Arial"/>
                  <a:cs typeface="Arial"/>
                  <a:sym typeface="Arial"/>
                </a:rPr>
                <a:t>     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2800">
                  <a:solidFill>
                    <a:srgbClr val="658C6A"/>
                  </a:solidFill>
                  <a:latin typeface="Arial"/>
                  <a:ea typeface="Arial"/>
                  <a:cs typeface="Arial"/>
                  <a:sym typeface="Arial"/>
                </a:rPr>
                <a:t>            결제</a:t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7" name="Google Shape;527;p25"/>
            <p:cNvSpPr txBox="1"/>
            <p:nvPr/>
          </p:nvSpPr>
          <p:spPr>
            <a:xfrm>
              <a:off x="13060553" y="5420979"/>
              <a:ext cx="2659658" cy="12003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AutoNum type="arabicPeriod"/>
              </a:pPr>
              <a:r>
                <a:rPr lang="ko-KR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결제 요청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AutoNum type="arabicPeriod"/>
              </a:pPr>
              <a:r>
                <a:rPr lang="ko-KR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결제 승인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AutoNum type="arabicPeriod"/>
              </a:pPr>
              <a:r>
                <a:rPr lang="ko-KR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주문 내역, 출고 정보, 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주문 상세 내역 저장</a:t>
              </a:r>
              <a:endParaRPr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3" name="Google Shape;533;p26"/>
          <p:cNvGrpSpPr/>
          <p:nvPr/>
        </p:nvGrpSpPr>
        <p:grpSpPr>
          <a:xfrm>
            <a:off x="-1031994" y="118775"/>
            <a:ext cx="20846261" cy="10455850"/>
            <a:chOff x="0" y="0"/>
            <a:chExt cx="27795014" cy="13941133"/>
          </a:xfrm>
        </p:grpSpPr>
        <p:sp>
          <p:nvSpPr>
            <p:cNvPr id="534" name="Google Shape;534;p26"/>
            <p:cNvSpPr/>
            <p:nvPr/>
          </p:nvSpPr>
          <p:spPr>
            <a:xfrm>
              <a:off x="0" y="0"/>
              <a:ext cx="6982743" cy="6982743"/>
            </a:xfrm>
            <a:custGeom>
              <a:rect b="b" l="l" r="r" t="t"/>
              <a:pathLst>
                <a:path extrusionOk="0"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63000"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5" name="Google Shape;535;p26"/>
            <p:cNvSpPr/>
            <p:nvPr/>
          </p:nvSpPr>
          <p:spPr>
            <a:xfrm>
              <a:off x="6955551" y="0"/>
              <a:ext cx="6982743" cy="6982743"/>
            </a:xfrm>
            <a:custGeom>
              <a:rect b="b" l="l" r="r" t="t"/>
              <a:pathLst>
                <a:path extrusionOk="0"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63000"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6" name="Google Shape;536;p26"/>
            <p:cNvSpPr/>
            <p:nvPr/>
          </p:nvSpPr>
          <p:spPr>
            <a:xfrm>
              <a:off x="13883911" y="0"/>
              <a:ext cx="6982743" cy="6982743"/>
            </a:xfrm>
            <a:custGeom>
              <a:rect b="b" l="l" r="r" t="t"/>
              <a:pathLst>
                <a:path extrusionOk="0"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63000"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7" name="Google Shape;537;p26"/>
            <p:cNvSpPr/>
            <p:nvPr/>
          </p:nvSpPr>
          <p:spPr>
            <a:xfrm>
              <a:off x="20812271" y="0"/>
              <a:ext cx="6982743" cy="6982743"/>
            </a:xfrm>
            <a:custGeom>
              <a:rect b="b" l="l" r="r" t="t"/>
              <a:pathLst>
                <a:path extrusionOk="0"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63000"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8" name="Google Shape;538;p26"/>
            <p:cNvSpPr/>
            <p:nvPr/>
          </p:nvSpPr>
          <p:spPr>
            <a:xfrm>
              <a:off x="0" y="6958390"/>
              <a:ext cx="6982743" cy="6982743"/>
            </a:xfrm>
            <a:custGeom>
              <a:rect b="b" l="l" r="r" t="t"/>
              <a:pathLst>
                <a:path extrusionOk="0"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63000"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9" name="Google Shape;539;p26"/>
            <p:cNvSpPr/>
            <p:nvPr/>
          </p:nvSpPr>
          <p:spPr>
            <a:xfrm>
              <a:off x="6955551" y="6958390"/>
              <a:ext cx="6982743" cy="6982743"/>
            </a:xfrm>
            <a:custGeom>
              <a:rect b="b" l="l" r="r" t="t"/>
              <a:pathLst>
                <a:path extrusionOk="0"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63000"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0" name="Google Shape;540;p26"/>
            <p:cNvSpPr/>
            <p:nvPr/>
          </p:nvSpPr>
          <p:spPr>
            <a:xfrm>
              <a:off x="13883911" y="6958390"/>
              <a:ext cx="6982743" cy="6982743"/>
            </a:xfrm>
            <a:custGeom>
              <a:rect b="b" l="l" r="r" t="t"/>
              <a:pathLst>
                <a:path extrusionOk="0"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63000"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1" name="Google Shape;541;p26"/>
            <p:cNvSpPr/>
            <p:nvPr/>
          </p:nvSpPr>
          <p:spPr>
            <a:xfrm>
              <a:off x="20812271" y="6958390"/>
              <a:ext cx="6982743" cy="6982743"/>
            </a:xfrm>
            <a:custGeom>
              <a:rect b="b" l="l" r="r" t="t"/>
              <a:pathLst>
                <a:path extrusionOk="0"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63000"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42" name="Google Shape;542;p26"/>
          <p:cNvGrpSpPr/>
          <p:nvPr/>
        </p:nvGrpSpPr>
        <p:grpSpPr>
          <a:xfrm>
            <a:off x="1028654" y="627762"/>
            <a:ext cx="16230707" cy="8752614"/>
            <a:chOff x="0" y="-47625"/>
            <a:chExt cx="4274726" cy="2305200"/>
          </a:xfrm>
        </p:grpSpPr>
        <p:sp>
          <p:nvSpPr>
            <p:cNvPr id="543" name="Google Shape;543;p26"/>
            <p:cNvSpPr/>
            <p:nvPr/>
          </p:nvSpPr>
          <p:spPr>
            <a:xfrm>
              <a:off x="0" y="0"/>
              <a:ext cx="4274726" cy="2257511"/>
            </a:xfrm>
            <a:custGeom>
              <a:rect b="b" l="l" r="r" t="t"/>
              <a:pathLst>
                <a:path extrusionOk="0" h="2257511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257511"/>
                  </a:lnTo>
                  <a:lnTo>
                    <a:pt x="0" y="2257511"/>
                  </a:lnTo>
                  <a:close/>
                </a:path>
              </a:pathLst>
            </a:custGeom>
            <a:solidFill>
              <a:srgbClr val="FFFFFF"/>
            </a:solidFill>
            <a:ln cap="sq" cmpd="sng" w="19050">
              <a:solidFill>
                <a:srgbClr val="658C6A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4" name="Google Shape;544;p26"/>
            <p:cNvSpPr txBox="1"/>
            <p:nvPr/>
          </p:nvSpPr>
          <p:spPr>
            <a:xfrm>
              <a:off x="0" y="-47625"/>
              <a:ext cx="4274700" cy="230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1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45" name="Google Shape;545;p26"/>
          <p:cNvSpPr/>
          <p:nvPr/>
        </p:nvSpPr>
        <p:spPr>
          <a:xfrm>
            <a:off x="15720211" y="231437"/>
            <a:ext cx="1136863" cy="1168738"/>
          </a:xfrm>
          <a:custGeom>
            <a:rect b="b" l="l" r="r" t="t"/>
            <a:pathLst>
              <a:path extrusionOk="0"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46" name="Google Shape;546;p26"/>
          <p:cNvPicPr preferRelativeResize="0"/>
          <p:nvPr/>
        </p:nvPicPr>
        <p:blipFill rotWithShape="1">
          <a:blip r:embed="rId5">
            <a:alphaModFix/>
          </a:blip>
          <a:srcRect b="1649" l="0" r="0" t="-1650"/>
          <a:stretch/>
        </p:blipFill>
        <p:spPr>
          <a:xfrm>
            <a:off x="603350" y="1048900"/>
            <a:ext cx="10681926" cy="8189175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26"/>
          <p:cNvSpPr txBox="1"/>
          <p:nvPr/>
        </p:nvSpPr>
        <p:spPr>
          <a:xfrm>
            <a:off x="3045737" y="859446"/>
            <a:ext cx="9784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041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4800">
                <a:solidFill>
                  <a:srgbClr val="485849"/>
                </a:solidFill>
              </a:rPr>
              <a:t>회원조회</a:t>
            </a:r>
            <a:endParaRPr sz="4800">
              <a:solidFill>
                <a:srgbClr val="4858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" name="Google Shape;548;p26"/>
          <p:cNvSpPr/>
          <p:nvPr/>
        </p:nvSpPr>
        <p:spPr>
          <a:xfrm>
            <a:off x="1028651" y="1598350"/>
            <a:ext cx="16066500" cy="7700100"/>
          </a:xfrm>
          <a:prstGeom prst="rect">
            <a:avLst/>
          </a:prstGeom>
          <a:noFill/>
          <a:ln cap="flat" cmpd="sng" w="254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26"/>
          <p:cNvSpPr txBox="1"/>
          <p:nvPr/>
        </p:nvSpPr>
        <p:spPr>
          <a:xfrm>
            <a:off x="10739950" y="1777950"/>
            <a:ext cx="6248100" cy="67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</a:t>
            </a:r>
            <a:r>
              <a:rPr lang="ko-KR" sz="2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updateAdminBtn</a:t>
            </a:r>
            <a:r>
              <a:rPr lang="ko-KR" sz="2400">
                <a:solidFill>
                  <a:schemeClr val="dk1"/>
                </a:solidFill>
              </a:rPr>
              <a:t> 버튼을 찾아서, 클릭했을 때 실행할 동작을 등록한다.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>
                <a:solidFill>
                  <a:schemeClr val="dk1"/>
                </a:solidFill>
              </a:rPr>
              <a:t>2.</a:t>
            </a:r>
            <a:r>
              <a:rPr lang="ko-KR" sz="2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memberForm</a:t>
            </a:r>
            <a:r>
              <a:rPr lang="ko-KR" sz="2200">
                <a:solidFill>
                  <a:schemeClr val="dk1"/>
                </a:solidFill>
              </a:rPr>
              <a:t>이라는 폼 태그를 가져와 변수 </a:t>
            </a:r>
            <a:r>
              <a:rPr lang="ko-KR" sz="2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form</a:t>
            </a:r>
            <a:r>
              <a:rPr lang="ko-KR" sz="2200">
                <a:solidFill>
                  <a:schemeClr val="dk1"/>
                </a:solidFill>
              </a:rPr>
              <a:t>에 담는다.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>
                <a:solidFill>
                  <a:schemeClr val="dk1"/>
                </a:solidFill>
              </a:rPr>
              <a:t>3.</a:t>
            </a:r>
            <a:r>
              <a:rPr lang="ko-KR" sz="2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row-check</a:t>
            </a:r>
            <a:r>
              <a:rPr lang="ko-KR" sz="2400">
                <a:solidFill>
                  <a:schemeClr val="dk1"/>
                </a:solidFill>
              </a:rPr>
              <a:t> 클래스를 가진 체크박스 중 선택된(checked) 항목들을 모두 가져온다.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>
                <a:solidFill>
                  <a:schemeClr val="dk1"/>
                </a:solidFill>
              </a:rPr>
              <a:t>4.선택된 회원이 하나도 없으면 "수정할 회원을 선택하세요."라는 경고창을 띄우고 실행을 멈춘다.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>
                <a:solidFill>
                  <a:schemeClr val="dk1"/>
                </a:solidFill>
              </a:rPr>
              <a:t>5.회원이 선택된 경우, "관리자 여부를 변경하시겠습니까?"라는 확인창을 띄운다. 취소하면 중단, 확인하면 계속 진행한다.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>
                <a:solidFill>
                  <a:schemeClr val="dk1"/>
                </a:solidFill>
              </a:rPr>
              <a:t>6.폼을 전송할 서버 주소(URL)를 </a:t>
            </a:r>
            <a:r>
              <a:rPr lang="ko-KR" sz="2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/admin/updateAdminStatus</a:t>
            </a:r>
            <a:r>
              <a:rPr lang="ko-KR" sz="2400">
                <a:solidFill>
                  <a:schemeClr val="dk1"/>
                </a:solidFill>
              </a:rPr>
              <a:t>로 지정한다.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>
                <a:solidFill>
                  <a:schemeClr val="dk1"/>
                </a:solidFill>
              </a:rPr>
              <a:t>7.폼 전송 방식을 </a:t>
            </a:r>
            <a:r>
              <a:rPr lang="ko-KR" sz="2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POST</a:t>
            </a:r>
            <a:r>
              <a:rPr lang="ko-KR" sz="2400">
                <a:solidFill>
                  <a:schemeClr val="dk1"/>
                </a:solidFill>
              </a:rPr>
              <a:t> 방식으로 설정한다.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>
                <a:solidFill>
                  <a:schemeClr val="dk1"/>
                </a:solidFill>
              </a:rPr>
              <a:t>8.지정된 주소로 폼 데이터를 실제로 전송한다.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>
                <a:solidFill>
                  <a:schemeClr val="dk1"/>
                </a:solidFill>
              </a:rPr>
              <a:t>9.버튼 클릭 이벤트 처리 코드를 마무리한다.</a:t>
            </a:r>
            <a:endParaRPr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5" name="Google Shape;555;p27"/>
          <p:cNvGrpSpPr/>
          <p:nvPr/>
        </p:nvGrpSpPr>
        <p:grpSpPr>
          <a:xfrm>
            <a:off x="980629" y="652537"/>
            <a:ext cx="16230707" cy="8752614"/>
            <a:chOff x="0" y="-47625"/>
            <a:chExt cx="4274726" cy="2305200"/>
          </a:xfrm>
        </p:grpSpPr>
        <p:sp>
          <p:nvSpPr>
            <p:cNvPr id="556" name="Google Shape;556;p27"/>
            <p:cNvSpPr/>
            <p:nvPr/>
          </p:nvSpPr>
          <p:spPr>
            <a:xfrm>
              <a:off x="0" y="0"/>
              <a:ext cx="4274726" cy="2257511"/>
            </a:xfrm>
            <a:custGeom>
              <a:rect b="b" l="l" r="r" t="t"/>
              <a:pathLst>
                <a:path extrusionOk="0" h="2257511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257511"/>
                  </a:lnTo>
                  <a:lnTo>
                    <a:pt x="0" y="2257511"/>
                  </a:lnTo>
                  <a:close/>
                </a:path>
              </a:pathLst>
            </a:custGeom>
            <a:solidFill>
              <a:srgbClr val="FFFFFF"/>
            </a:solidFill>
            <a:ln cap="sq" cmpd="sng" w="19050">
              <a:solidFill>
                <a:srgbClr val="658C6A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7" name="Google Shape;557;p27"/>
            <p:cNvSpPr txBox="1"/>
            <p:nvPr/>
          </p:nvSpPr>
          <p:spPr>
            <a:xfrm>
              <a:off x="0" y="-47625"/>
              <a:ext cx="4274700" cy="230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1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58" name="Google Shape;558;p27"/>
          <p:cNvSpPr/>
          <p:nvPr/>
        </p:nvSpPr>
        <p:spPr>
          <a:xfrm>
            <a:off x="1241675" y="1531025"/>
            <a:ext cx="15708600" cy="7726500"/>
          </a:xfrm>
          <a:prstGeom prst="rect">
            <a:avLst/>
          </a:prstGeom>
          <a:noFill/>
          <a:ln cap="flat" cmpd="sng" w="254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27"/>
          <p:cNvSpPr txBox="1"/>
          <p:nvPr/>
        </p:nvSpPr>
        <p:spPr>
          <a:xfrm>
            <a:off x="2942674" y="792121"/>
            <a:ext cx="9784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041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4800">
                <a:solidFill>
                  <a:srgbClr val="485849"/>
                </a:solidFill>
              </a:rPr>
              <a:t>회원 </a:t>
            </a:r>
            <a:r>
              <a:rPr lang="ko-KR" sz="4800">
                <a:solidFill>
                  <a:srgbClr val="485849"/>
                </a:solidFill>
              </a:rPr>
              <a:t>등급관리</a:t>
            </a:r>
            <a:endParaRPr sz="4800">
              <a:solidFill>
                <a:srgbClr val="4858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0" name="Google Shape;560;p27"/>
          <p:cNvSpPr txBox="1"/>
          <p:nvPr/>
        </p:nvSpPr>
        <p:spPr>
          <a:xfrm>
            <a:off x="6302925" y="8723350"/>
            <a:ext cx="6074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600">
                <a:solidFill>
                  <a:schemeClr val="dk1"/>
                </a:solidFill>
              </a:rPr>
              <a:t>화면에 표시되는 게시글 조건</a:t>
            </a:r>
            <a:endParaRPr sz="2600"/>
          </a:p>
        </p:txBody>
      </p:sp>
      <p:pic>
        <p:nvPicPr>
          <p:cNvPr id="561" name="Google Shape;561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2525" y="1898400"/>
            <a:ext cx="9049949" cy="6457550"/>
          </a:xfrm>
          <a:prstGeom prst="rect">
            <a:avLst/>
          </a:prstGeom>
          <a:noFill/>
          <a:ln>
            <a:noFill/>
          </a:ln>
        </p:spPr>
      </p:pic>
      <p:sp>
        <p:nvSpPr>
          <p:cNvPr id="562" name="Google Shape;562;p27"/>
          <p:cNvSpPr txBox="1"/>
          <p:nvPr/>
        </p:nvSpPr>
        <p:spPr>
          <a:xfrm>
            <a:off x="10244175" y="1674325"/>
            <a:ext cx="6494400" cy="70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1.count(*)로 전체 결과 행의 개수를 센다  (즉, 조건을 만족하는 회원 수를 구함)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</a:t>
            </a:r>
            <a:r>
              <a:rPr lang="ko-KR" sz="2300">
                <a:solidFill>
                  <a:schemeClr val="dk1"/>
                </a:solidFill>
              </a:rPr>
              <a:t>MEMBER 테이블에서회원번호(</a:t>
            </a:r>
            <a:r>
              <a:rPr lang="ko-KR" sz="2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member_no</a:t>
            </a:r>
            <a:r>
              <a:rPr lang="ko-KR" sz="2300">
                <a:solidFill>
                  <a:schemeClr val="dk1"/>
                </a:solidFill>
              </a:rPr>
              <a:t>)를 뽑는다. (한 회원당 한 줄만 나오게 할 계획)</a:t>
            </a:r>
            <a:endParaRPr sz="2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300">
                <a:solidFill>
                  <a:schemeClr val="dk1"/>
                </a:solidFill>
              </a:rPr>
              <a:t>3.기준 테이블은 </a:t>
            </a:r>
            <a:r>
              <a:rPr lang="ko-KR" sz="2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MEMBER</a:t>
            </a:r>
            <a:r>
              <a:rPr lang="ko-KR" sz="2300">
                <a:solidFill>
                  <a:schemeClr val="dk1"/>
                </a:solidFill>
              </a:rPr>
              <a:t>이다. (회원 전체를 대상으로 시작)</a:t>
            </a:r>
            <a:endParaRPr sz="2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300">
                <a:solidFill>
                  <a:schemeClr val="dk1"/>
                </a:solidFill>
              </a:rPr>
              <a:t>4. </a:t>
            </a:r>
            <a:r>
              <a:rPr lang="ko-KR" sz="2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BOARD</a:t>
            </a:r>
            <a:r>
              <a:rPr lang="ko-KR" sz="2300">
                <a:solidFill>
                  <a:schemeClr val="dk1"/>
                </a:solidFill>
              </a:rPr>
              <a:t> 테이블과 </a:t>
            </a:r>
            <a:r>
              <a:rPr lang="ko-KR" sz="2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LEFT JOIN</a:t>
            </a:r>
            <a:r>
              <a:rPr lang="ko-KR" sz="2300">
                <a:solidFill>
                  <a:schemeClr val="dk1"/>
                </a:solidFill>
              </a:rPr>
              <a:t>을 한다.</a:t>
            </a:r>
            <a:endParaRPr sz="2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2300">
                <a:solidFill>
                  <a:schemeClr val="dk1"/>
                </a:solidFill>
              </a:rPr>
              <a:t>조건: 회원번호가 같은 경우 연결, 단 </a:t>
            </a:r>
            <a:r>
              <a:rPr lang="ko-KR" sz="2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BOARD.is_delete = 'N'</a:t>
            </a:r>
            <a:r>
              <a:rPr lang="ko-KR" sz="2300">
                <a:solidFill>
                  <a:schemeClr val="dk1"/>
                </a:solidFill>
              </a:rPr>
              <a:t>인 글(삭제되지 않은 글)만 포함.</a:t>
            </a:r>
            <a:endParaRPr sz="2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300">
                <a:solidFill>
                  <a:schemeClr val="dk1"/>
                </a:solidFill>
              </a:rPr>
              <a:t>➡ LEFT JOIN이라 게시글이 없는 회원도 결과에 남는다.</a:t>
            </a:r>
            <a:endParaRPr sz="2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300">
                <a:solidFill>
                  <a:schemeClr val="dk1"/>
                </a:solidFill>
              </a:rPr>
              <a:t>5.같은 회원 번호끼리 묶는다. ( 회원별로 글 수를 집계할 수 있게 함)</a:t>
            </a:r>
            <a:endParaRPr sz="2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300">
                <a:solidFill>
                  <a:schemeClr val="dk1"/>
                </a:solidFill>
              </a:rPr>
              <a:t>6.➡ 그룹된 결과 중에서 글 개수가 1개 이상인 회원만 남긴다.</a:t>
            </a:r>
            <a:endParaRPr sz="2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300">
                <a:solidFill>
                  <a:schemeClr val="dk1"/>
                </a:solidFill>
              </a:rPr>
              <a:t>➡ </a:t>
            </a:r>
            <a:r>
              <a:rPr lang="ko-KR" sz="2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NVL(...,0)</a:t>
            </a:r>
            <a:r>
              <a:rPr lang="ko-KR" sz="2300">
                <a:solidFill>
                  <a:schemeClr val="dk1"/>
                </a:solidFill>
              </a:rPr>
              <a:t>을 써서, 게시글이 없을 경우 </a:t>
            </a:r>
            <a:r>
              <a:rPr lang="ko-KR" sz="2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lang="ko-KR" sz="2300">
                <a:solidFill>
                  <a:schemeClr val="dk1"/>
                </a:solidFill>
              </a:rPr>
              <a:t>으로 처리한다</a:t>
            </a:r>
            <a:endParaRPr sz="2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8" name="Google Shape;568;p28"/>
          <p:cNvGrpSpPr/>
          <p:nvPr/>
        </p:nvGrpSpPr>
        <p:grpSpPr>
          <a:xfrm>
            <a:off x="980629" y="652537"/>
            <a:ext cx="16230707" cy="8752614"/>
            <a:chOff x="0" y="-47625"/>
            <a:chExt cx="4274726" cy="2305200"/>
          </a:xfrm>
        </p:grpSpPr>
        <p:sp>
          <p:nvSpPr>
            <p:cNvPr id="569" name="Google Shape;569;p28"/>
            <p:cNvSpPr/>
            <p:nvPr/>
          </p:nvSpPr>
          <p:spPr>
            <a:xfrm>
              <a:off x="0" y="0"/>
              <a:ext cx="4274726" cy="2257511"/>
            </a:xfrm>
            <a:custGeom>
              <a:rect b="b" l="l" r="r" t="t"/>
              <a:pathLst>
                <a:path extrusionOk="0" h="2257511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257511"/>
                  </a:lnTo>
                  <a:lnTo>
                    <a:pt x="0" y="2257511"/>
                  </a:lnTo>
                  <a:close/>
                </a:path>
              </a:pathLst>
            </a:custGeom>
            <a:solidFill>
              <a:srgbClr val="FFFFFF"/>
            </a:solidFill>
            <a:ln cap="sq" cmpd="sng" w="19050">
              <a:solidFill>
                <a:srgbClr val="658C6A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0" name="Google Shape;570;p28"/>
            <p:cNvSpPr txBox="1"/>
            <p:nvPr/>
          </p:nvSpPr>
          <p:spPr>
            <a:xfrm>
              <a:off x="0" y="-47625"/>
              <a:ext cx="4274700" cy="230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1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71" name="Google Shape;571;p28"/>
          <p:cNvSpPr txBox="1"/>
          <p:nvPr/>
        </p:nvSpPr>
        <p:spPr>
          <a:xfrm>
            <a:off x="3261074" y="958271"/>
            <a:ext cx="9784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041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4800">
                <a:solidFill>
                  <a:srgbClr val="485849"/>
                </a:solidFill>
              </a:rPr>
              <a:t>회</a:t>
            </a:r>
            <a:r>
              <a:rPr lang="ko-KR" sz="4800">
                <a:solidFill>
                  <a:srgbClr val="485849"/>
                </a:solidFill>
              </a:rPr>
              <a:t>원 게시물 </a:t>
            </a:r>
            <a:r>
              <a:rPr lang="ko-KR" sz="4800">
                <a:solidFill>
                  <a:srgbClr val="485849"/>
                </a:solidFill>
              </a:rPr>
              <a:t>관리</a:t>
            </a:r>
            <a:endParaRPr sz="4800">
              <a:solidFill>
                <a:srgbClr val="4858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2" name="Google Shape;572;p28"/>
          <p:cNvSpPr txBox="1"/>
          <p:nvPr/>
        </p:nvSpPr>
        <p:spPr>
          <a:xfrm>
            <a:off x="9212325" y="1112325"/>
            <a:ext cx="61863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200">
                <a:solidFill>
                  <a:schemeClr val="dk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중복  요청방지위한 이벤트 비활성화/확성화</a:t>
            </a:r>
            <a:endParaRPr sz="1800">
              <a:solidFill>
                <a:schemeClr val="dk1"/>
              </a:solidFill>
              <a:highlight>
                <a:srgbClr val="FFFF00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28"/>
          <p:cNvSpPr/>
          <p:nvPr/>
        </p:nvSpPr>
        <p:spPr>
          <a:xfrm>
            <a:off x="1087900" y="1722750"/>
            <a:ext cx="15997800" cy="7598700"/>
          </a:xfrm>
          <a:prstGeom prst="rect">
            <a:avLst/>
          </a:prstGeom>
          <a:noFill/>
          <a:ln cap="flat" cmpd="sng" w="254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74" name="Google Shape;574;p28"/>
          <p:cNvPicPr preferRelativeResize="0"/>
          <p:nvPr/>
        </p:nvPicPr>
        <p:blipFill rotWithShape="1">
          <a:blip r:embed="rId3">
            <a:alphaModFix/>
          </a:blip>
          <a:srcRect b="-10192" l="0" r="-14364" t="0"/>
          <a:stretch/>
        </p:blipFill>
        <p:spPr>
          <a:xfrm>
            <a:off x="1087900" y="2256475"/>
            <a:ext cx="9291300" cy="6842950"/>
          </a:xfrm>
          <a:prstGeom prst="rect">
            <a:avLst/>
          </a:prstGeom>
          <a:noFill/>
          <a:ln>
            <a:noFill/>
          </a:ln>
        </p:spPr>
      </p:pic>
      <p:sp>
        <p:nvSpPr>
          <p:cNvPr id="575" name="Google Shape;575;p28"/>
          <p:cNvSpPr txBox="1"/>
          <p:nvPr/>
        </p:nvSpPr>
        <p:spPr>
          <a:xfrm>
            <a:off x="9103925" y="1945800"/>
            <a:ext cx="7981800" cy="71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</a:t>
            </a:r>
            <a:r>
              <a:rPr lang="ko-KR" sz="2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#postTbody</a:t>
            </a:r>
            <a:r>
              <a:rPr lang="ko-KR" sz="2600">
                <a:solidFill>
                  <a:schemeClr val="dk1"/>
                </a:solidFill>
              </a:rPr>
              <a:t> 안에 있는 </a:t>
            </a:r>
            <a:r>
              <a:rPr lang="ko-KR" sz="2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.public-select</a:t>
            </a:r>
            <a:r>
              <a:rPr lang="ko-KR" sz="2600">
                <a:solidFill>
                  <a:schemeClr val="dk1"/>
                </a:solidFill>
              </a:rPr>
              <a:t> 요소(공개/비공개 선택박스)의 값이 바뀌면 이 함수를 실행한다.</a:t>
            </a:r>
            <a:endParaRPr sz="2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600">
                <a:solidFill>
                  <a:schemeClr val="dk1"/>
                </a:solidFill>
              </a:rPr>
              <a:t>2.</a:t>
            </a:r>
            <a:r>
              <a:rPr lang="ko-KR" sz="2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on('change', …)</a:t>
            </a:r>
            <a:r>
              <a:rPr lang="ko-KR" sz="2600">
                <a:solidFill>
                  <a:schemeClr val="dk1"/>
                </a:solidFill>
              </a:rPr>
              <a:t>을 쓴 이유는 동적으로 추가된 select 박스도 이벤트를 감지할 수 있도록 하기 위함.</a:t>
            </a:r>
            <a:endParaRPr sz="2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600">
                <a:solidFill>
                  <a:schemeClr val="dk1"/>
                </a:solidFill>
              </a:rPr>
              <a:t>3.선택된 박스(</a:t>
            </a:r>
            <a:r>
              <a:rPr lang="ko-KR" sz="2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this</a:t>
            </a:r>
            <a:r>
              <a:rPr lang="ko-KR" sz="2600">
                <a:solidFill>
                  <a:schemeClr val="dk1"/>
                </a:solidFill>
              </a:rPr>
              <a:t>)에 달려 있는 </a:t>
            </a:r>
            <a:r>
              <a:rPr lang="ko-KR" sz="2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data-boardno</a:t>
            </a:r>
            <a:r>
              <a:rPr lang="ko-KR" sz="2600">
                <a:solidFill>
                  <a:schemeClr val="dk1"/>
                </a:solidFill>
              </a:rPr>
              <a:t> 속성값을 가져와 </a:t>
            </a:r>
            <a:r>
              <a:rPr lang="ko-KR" sz="2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boardNo</a:t>
            </a:r>
            <a:r>
              <a:rPr lang="ko-KR" sz="2600">
                <a:solidFill>
                  <a:schemeClr val="dk1"/>
                </a:solidFill>
              </a:rPr>
              <a:t> 변수에 저장.</a:t>
            </a:r>
            <a:endParaRPr sz="2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600">
                <a:solidFill>
                  <a:schemeClr val="dk1"/>
                </a:solidFill>
              </a:rPr>
              <a:t>=&gt; 즉, 어떤 게시글 번호(board_no)인지 알아냄.</a:t>
            </a:r>
            <a:endParaRPr sz="2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600">
                <a:solidFill>
                  <a:schemeClr val="dk1"/>
                </a:solidFill>
              </a:rPr>
              <a:t>4. 현재 선택된 select 박스의 값을 가져와 </a:t>
            </a:r>
            <a:r>
              <a:rPr lang="ko-KR" sz="2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boardPublic</a:t>
            </a:r>
            <a:r>
              <a:rPr lang="ko-KR" sz="2600">
                <a:solidFill>
                  <a:schemeClr val="dk1"/>
                </a:solidFill>
              </a:rPr>
              <a:t> 변수에 저장.</a:t>
            </a:r>
            <a:endParaRPr sz="2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600">
                <a:solidFill>
                  <a:schemeClr val="dk1"/>
                </a:solidFill>
              </a:rPr>
              <a:t>=&gt; 보통 </a:t>
            </a:r>
            <a:r>
              <a:rPr lang="ko-KR" sz="2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"Y"</a:t>
            </a:r>
            <a:r>
              <a:rPr lang="ko-KR" sz="2600">
                <a:solidFill>
                  <a:schemeClr val="dk1"/>
                </a:solidFill>
              </a:rPr>
              <a:t>(공개) 또는 </a:t>
            </a:r>
            <a:r>
              <a:rPr lang="ko-KR" sz="2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"N"</a:t>
            </a:r>
            <a:r>
              <a:rPr lang="ko-KR" sz="2600">
                <a:solidFill>
                  <a:schemeClr val="dk1"/>
                </a:solidFill>
              </a:rPr>
              <a:t>(비공개) 같은 값일 것.</a:t>
            </a:r>
            <a:endParaRPr sz="2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600">
                <a:solidFill>
                  <a:schemeClr val="dk1"/>
                </a:solidFill>
              </a:rPr>
              <a:t>5. 사용자가 같은 select를 또 눌러 중복 요청하지 못하게</a:t>
            </a:r>
            <a:endParaRPr sz="2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600">
                <a:solidFill>
                  <a:schemeClr val="dk1"/>
                </a:solidFill>
              </a:rPr>
              <a:t>일시적으로 비활성화(disabled) 시킴 </a:t>
            </a:r>
            <a:endParaRPr sz="2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600">
                <a:solidFill>
                  <a:schemeClr val="dk1"/>
                </a:solidFill>
              </a:rPr>
              <a:t>6.ajax요청</a:t>
            </a:r>
            <a:endParaRPr sz="2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600">
                <a:solidFill>
                  <a:schemeClr val="dk1"/>
                </a:solidFill>
              </a:rPr>
              <a:t>url은 요청을 보낼서버 이고 요청 방식은 POST방식, 보낼 데이터의 타입은 JSON data:boardNo와 boardPublic 값을 JSON 문자열로 만들어서 전송</a:t>
            </a:r>
            <a:endParaRPr sz="2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1" name="Google Shape;581;p29"/>
          <p:cNvGrpSpPr/>
          <p:nvPr/>
        </p:nvGrpSpPr>
        <p:grpSpPr>
          <a:xfrm>
            <a:off x="980629" y="652537"/>
            <a:ext cx="16230707" cy="8752614"/>
            <a:chOff x="0" y="-47625"/>
            <a:chExt cx="4274726" cy="2305200"/>
          </a:xfrm>
        </p:grpSpPr>
        <p:sp>
          <p:nvSpPr>
            <p:cNvPr id="582" name="Google Shape;582;p29"/>
            <p:cNvSpPr/>
            <p:nvPr/>
          </p:nvSpPr>
          <p:spPr>
            <a:xfrm>
              <a:off x="0" y="0"/>
              <a:ext cx="4274726" cy="2257511"/>
            </a:xfrm>
            <a:custGeom>
              <a:rect b="b" l="l" r="r" t="t"/>
              <a:pathLst>
                <a:path extrusionOk="0" h="2257511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257511"/>
                  </a:lnTo>
                  <a:lnTo>
                    <a:pt x="0" y="2257511"/>
                  </a:lnTo>
                  <a:close/>
                </a:path>
              </a:pathLst>
            </a:custGeom>
            <a:solidFill>
              <a:srgbClr val="FFFFFF"/>
            </a:solidFill>
            <a:ln cap="sq" cmpd="sng" w="19050">
              <a:solidFill>
                <a:srgbClr val="658C6A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3" name="Google Shape;583;p29"/>
            <p:cNvSpPr txBox="1"/>
            <p:nvPr/>
          </p:nvSpPr>
          <p:spPr>
            <a:xfrm>
              <a:off x="0" y="-47625"/>
              <a:ext cx="4274700" cy="230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1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84" name="Google Shape;584;p29"/>
          <p:cNvSpPr txBox="1"/>
          <p:nvPr/>
        </p:nvSpPr>
        <p:spPr>
          <a:xfrm>
            <a:off x="3261074" y="958271"/>
            <a:ext cx="9784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041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4800">
                <a:solidFill>
                  <a:srgbClr val="485849"/>
                </a:solidFill>
              </a:rPr>
              <a:t>회원 게시물 관리</a:t>
            </a:r>
            <a:endParaRPr sz="4800">
              <a:solidFill>
                <a:srgbClr val="4858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5" name="Google Shape;585;p29"/>
          <p:cNvSpPr txBox="1"/>
          <p:nvPr/>
        </p:nvSpPr>
        <p:spPr>
          <a:xfrm>
            <a:off x="9212325" y="1112325"/>
            <a:ext cx="61863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200">
                <a:solidFill>
                  <a:schemeClr val="dk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중복  요청방지위한 이벤트 비활성화/확성화</a:t>
            </a:r>
            <a:endParaRPr sz="1800">
              <a:solidFill>
                <a:schemeClr val="dk1"/>
              </a:solidFill>
              <a:highlight>
                <a:srgbClr val="FFFF00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29"/>
          <p:cNvSpPr/>
          <p:nvPr/>
        </p:nvSpPr>
        <p:spPr>
          <a:xfrm>
            <a:off x="1236625" y="1722750"/>
            <a:ext cx="15974700" cy="6841500"/>
          </a:xfrm>
          <a:prstGeom prst="rect">
            <a:avLst/>
          </a:prstGeom>
          <a:noFill/>
          <a:ln cap="flat" cmpd="sng" w="254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87" name="Google Shape;587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4825" y="2252513"/>
            <a:ext cx="6939000" cy="5552625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29"/>
          <p:cNvSpPr txBox="1"/>
          <p:nvPr/>
        </p:nvSpPr>
        <p:spPr>
          <a:xfrm>
            <a:off x="8682550" y="1971775"/>
            <a:ext cx="8279100" cy="63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7.서버 응답이 성공적으로 돌아온 경우 실행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=&gt; </a:t>
            </a:r>
            <a:r>
              <a:rPr lang="ko-KR" sz="3000">
                <a:solidFill>
                  <a:schemeClr val="dk1"/>
                </a:solidFill>
              </a:rPr>
              <a:t>응답 값이 </a:t>
            </a:r>
            <a:r>
              <a:rPr lang="ko-KR" sz="3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"success"</a:t>
            </a:r>
            <a:r>
              <a:rPr lang="ko-KR" sz="3000">
                <a:solidFill>
                  <a:schemeClr val="dk1"/>
                </a:solidFill>
              </a:rPr>
              <a:t>면 알림창으로 "공개 상태가 변경되었습니다." 출력.</a:t>
            </a:r>
            <a:endParaRPr sz="3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000">
                <a:solidFill>
                  <a:schemeClr val="dk1"/>
                </a:solidFill>
              </a:rPr>
              <a:t>=&gt;그 외의 경우는 "변경 실패".</a:t>
            </a:r>
            <a:endParaRPr sz="3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000">
                <a:solidFill>
                  <a:schemeClr val="dk1"/>
                </a:solidFill>
              </a:rPr>
              <a:t>8. Ajax 요청 자체가 실패한 경우 실행.</a:t>
            </a:r>
            <a:endParaRPr sz="3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000">
                <a:solidFill>
                  <a:schemeClr val="dk1"/>
                </a:solidFill>
              </a:rPr>
              <a:t>=&gt; 네트워크 오류나 서버 에러 시 "변경 실패" 알림.</a:t>
            </a:r>
            <a:endParaRPr sz="3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000">
                <a:solidFill>
                  <a:schemeClr val="dk1"/>
                </a:solidFill>
              </a:rPr>
              <a:t>9.성공이든 실패든 상관없이 마지막에 무조건 실행됨.</a:t>
            </a:r>
            <a:endParaRPr sz="3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000">
                <a:solidFill>
                  <a:schemeClr val="dk1"/>
                </a:solidFill>
              </a:rPr>
              <a:t>=&gt; 처음에 막아놨던 select 박스를 다시 활성화(disabled → false) 시켜줌</a:t>
            </a:r>
            <a:endParaRPr sz="3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4" name="Google Shape;594;p30"/>
          <p:cNvGrpSpPr/>
          <p:nvPr/>
        </p:nvGrpSpPr>
        <p:grpSpPr>
          <a:xfrm>
            <a:off x="980629" y="652537"/>
            <a:ext cx="16230707" cy="8752614"/>
            <a:chOff x="0" y="-47625"/>
            <a:chExt cx="4274726" cy="2305200"/>
          </a:xfrm>
        </p:grpSpPr>
        <p:sp>
          <p:nvSpPr>
            <p:cNvPr id="595" name="Google Shape;595;p30"/>
            <p:cNvSpPr/>
            <p:nvPr/>
          </p:nvSpPr>
          <p:spPr>
            <a:xfrm>
              <a:off x="0" y="0"/>
              <a:ext cx="4274726" cy="2257511"/>
            </a:xfrm>
            <a:custGeom>
              <a:rect b="b" l="l" r="r" t="t"/>
              <a:pathLst>
                <a:path extrusionOk="0" h="2257511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257511"/>
                  </a:lnTo>
                  <a:lnTo>
                    <a:pt x="0" y="2257511"/>
                  </a:lnTo>
                  <a:close/>
                </a:path>
              </a:pathLst>
            </a:custGeom>
            <a:solidFill>
              <a:srgbClr val="FFFFFF"/>
            </a:solidFill>
            <a:ln cap="sq" cmpd="sng" w="19050">
              <a:solidFill>
                <a:srgbClr val="658C6A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6" name="Google Shape;596;p30"/>
            <p:cNvSpPr txBox="1"/>
            <p:nvPr/>
          </p:nvSpPr>
          <p:spPr>
            <a:xfrm>
              <a:off x="0" y="-47625"/>
              <a:ext cx="4274700" cy="230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1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97" name="Google Shape;597;p30"/>
          <p:cNvSpPr txBox="1"/>
          <p:nvPr/>
        </p:nvSpPr>
        <p:spPr>
          <a:xfrm>
            <a:off x="7139700" y="897125"/>
            <a:ext cx="4008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041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4800">
                <a:solidFill>
                  <a:srgbClr val="FF9900"/>
                </a:solidFill>
              </a:rPr>
              <a:t>프로젝트 소감 </a:t>
            </a:r>
            <a:endParaRPr b="1" sz="4800">
              <a:solidFill>
                <a:srgbClr val="FF9900"/>
              </a:solidFill>
            </a:endParaRPr>
          </a:p>
        </p:txBody>
      </p:sp>
      <p:sp>
        <p:nvSpPr>
          <p:cNvPr id="598" name="Google Shape;598;p30"/>
          <p:cNvSpPr/>
          <p:nvPr/>
        </p:nvSpPr>
        <p:spPr>
          <a:xfrm>
            <a:off x="1108625" y="1735200"/>
            <a:ext cx="15974700" cy="7412700"/>
          </a:xfrm>
          <a:prstGeom prst="rect">
            <a:avLst/>
          </a:prstGeom>
          <a:noFill/>
          <a:ln cap="flat" cmpd="sng" w="254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30"/>
          <p:cNvSpPr txBox="1"/>
          <p:nvPr/>
        </p:nvSpPr>
        <p:spPr>
          <a:xfrm>
            <a:off x="1502575" y="1945800"/>
            <a:ext cx="15442800" cy="69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2400">
                <a:solidFill>
                  <a:schemeClr val="dk1"/>
                </a:solidFill>
              </a:rPr>
              <a:t>이번 웹 개발 프로젝트를 통해 단순히 새로운 코드를 배우는 재미를 넘어, 실제로 개념들이 어떻게 구조화되고 연결되는지 조금씩 눈에 들어오기 시작했습니다. 책이나 강의로만 접했을 때는 잘 체감되지 않던 부분들이, 직접 기능을 만들고 DB를 설계하면서 “아, 이런 흐름으로 이어지는구나” 하고 이해할 수 있었던 점이 가장 큰 배움이었습니다.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2400">
                <a:solidFill>
                  <a:schemeClr val="dk1"/>
                </a:solidFill>
              </a:rPr>
              <a:t>처음에는 만들고 싶은 기능이 있어도 어디서부터 시작해야 할지, 어떤 방식으로 DB를 설계해야 할지 막막했습니다. 하지만 시간이 지날수록 기술적인 어려움보다 팀원들과 협업하고 소통하는 과정에서 더 많은 고민을 하게 되었습니다. 제가 괜찮다고 생각한 부분이 다른 팀원에게는 그렇지 않을 수 있다는 점, 공통 색상 하나를 정하는 일조차 오랜 회의가 필요했던 점 등 협업이 얼마나 많은 조율과 양보를 필요로 하는지 느낄 수 있었습니다.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2400">
                <a:solidFill>
                  <a:schemeClr val="dk1"/>
                </a:solidFill>
              </a:rPr>
              <a:t>때로는 “차라리 나를 빼고 회의를 진행하고 결과만 알려줬으면 좋겠다”라는 생각이 들 정도로 의견 조율을 지켜보는게 가장 힘들었지만, 결국 프로젝트는 개인의 결정이 아니라 팀 전체의 합의 속에서 완성된다는 사실을 깨달았습니다. 프로젝트의 완성도를 높이는 데 있어 가장 중요한 것은 개인적인 생각으로는 코드작성 실력,지식 보다  </a:t>
            </a:r>
            <a:r>
              <a:rPr b="1" lang="ko-KR" sz="2400">
                <a:solidFill>
                  <a:schemeClr val="dk1"/>
                </a:solidFill>
              </a:rPr>
              <a:t>의견 전달시와 받을때의 소통방식  유연한 관계 유지</a:t>
            </a:r>
            <a:r>
              <a:rPr lang="ko-KR" sz="2400">
                <a:solidFill>
                  <a:schemeClr val="dk1"/>
                </a:solidFill>
              </a:rPr>
              <a:t>라는 생각이 들었습니다. 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2400">
                <a:solidFill>
                  <a:schemeClr val="dk1"/>
                </a:solidFill>
              </a:rPr>
              <a:t>이번 경험을 바탕으로 앞으로 다른 프로젝트에 참여할 때는 더 적극적으로 소통하고, 의견을 나누되 그 과정에서  마음을 배려하는 태도를 유지하며, 팀워크를 통해 더 좋은 결과물을 만들어갈 수 있도록 노력하고 싶습니다.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